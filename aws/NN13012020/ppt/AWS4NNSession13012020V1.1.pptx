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>
  <p:sldMasterIdLst>
    <p:sldMasterId id="2147483654" r:id="rId1"/>
  </p:sldMasterIdLst>
  <p:notesMasterIdLst>
    <p:notesMasterId r:id="rId47"/>
  </p:notesMasterIdLst>
  <p:handoutMasterIdLst>
    <p:handoutMasterId r:id="rId48"/>
  </p:handoutMasterIdLst>
  <p:sldIdLst>
    <p:sldId id="256" r:id="rId2"/>
    <p:sldId id="480" r:id="rId3"/>
    <p:sldId id="518" r:id="rId4"/>
    <p:sldId id="269" r:id="rId5"/>
    <p:sldId id="259" r:id="rId6"/>
    <p:sldId id="258" r:id="rId7"/>
    <p:sldId id="488" r:id="rId8"/>
    <p:sldId id="397" r:id="rId9"/>
    <p:sldId id="491" r:id="rId10"/>
    <p:sldId id="400" r:id="rId11"/>
    <p:sldId id="492" r:id="rId12"/>
    <p:sldId id="509" r:id="rId13"/>
    <p:sldId id="270" r:id="rId14"/>
    <p:sldId id="394" r:id="rId15"/>
    <p:sldId id="395" r:id="rId16"/>
    <p:sldId id="510" r:id="rId17"/>
    <p:sldId id="499" r:id="rId18"/>
    <p:sldId id="496" r:id="rId19"/>
    <p:sldId id="495" r:id="rId20"/>
    <p:sldId id="490" r:id="rId21"/>
    <p:sldId id="516" r:id="rId22"/>
    <p:sldId id="513" r:id="rId23"/>
    <p:sldId id="512" r:id="rId24"/>
    <p:sldId id="274" r:id="rId25"/>
    <p:sldId id="391" r:id="rId26"/>
    <p:sldId id="503" r:id="rId27"/>
    <p:sldId id="429" r:id="rId28"/>
    <p:sldId id="497" r:id="rId29"/>
    <p:sldId id="506" r:id="rId30"/>
    <p:sldId id="500" r:id="rId31"/>
    <p:sldId id="514" r:id="rId32"/>
    <p:sldId id="476" r:id="rId33"/>
    <p:sldId id="520" r:id="rId34"/>
    <p:sldId id="519" r:id="rId35"/>
    <p:sldId id="460" r:id="rId36"/>
    <p:sldId id="421" r:id="rId37"/>
    <p:sldId id="422" r:id="rId38"/>
    <p:sldId id="507" r:id="rId39"/>
    <p:sldId id="511" r:id="rId40"/>
    <p:sldId id="517" r:id="rId41"/>
    <p:sldId id="515" r:id="rId42"/>
    <p:sldId id="481" r:id="rId43"/>
    <p:sldId id="277" r:id="rId44"/>
    <p:sldId id="390" r:id="rId45"/>
    <p:sldId id="430" r:id="rId46"/>
  </p:sldIdLst>
  <p:sldSz cx="12192000" cy="6858000"/>
  <p:notesSz cx="7099300" cy="10223500"/>
  <p:embeddedFontLst>
    <p:embeddedFont>
      <p:font typeface="Verdana" panose="020B0604030504040204" pitchFamily="34" charset="0"/>
      <p:regular r:id="rId49"/>
      <p:bold r:id="rId50"/>
      <p:italic r:id="rId51"/>
      <p:boldItalic r:id="rId52"/>
    </p:embeddedFont>
  </p:embeddedFontLst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itchFamily="34" charset="0"/>
        <a:ea typeface="+mn-ea"/>
        <a:cs typeface="Tahoma" pitchFamily="34" charset="0"/>
      </a:defRPr>
    </a:lvl1pPr>
    <a:lvl2pPr marL="742950" indent="-285750" algn="l" defTabSz="457200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itchFamily="34" charset="0"/>
        <a:ea typeface="+mn-ea"/>
        <a:cs typeface="Tahoma" pitchFamily="34" charset="0"/>
      </a:defRPr>
    </a:lvl2pPr>
    <a:lvl3pPr marL="1143000" indent="-228600" algn="l" defTabSz="457200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itchFamily="34" charset="0"/>
        <a:ea typeface="+mn-ea"/>
        <a:cs typeface="Tahoma" pitchFamily="34" charset="0"/>
      </a:defRPr>
    </a:lvl3pPr>
    <a:lvl4pPr marL="1600200" indent="-228600" algn="l" defTabSz="457200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itchFamily="34" charset="0"/>
        <a:ea typeface="+mn-ea"/>
        <a:cs typeface="Tahoma" pitchFamily="34" charset="0"/>
      </a:defRPr>
    </a:lvl4pPr>
    <a:lvl5pPr marL="2057400" indent="-228600" algn="l" defTabSz="457200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itchFamily="34" charset="0"/>
        <a:ea typeface="+mn-ea"/>
        <a:cs typeface="Tahoma" pitchFamily="34" charset="0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" pitchFamily="34" charset="0"/>
        <a:ea typeface="+mn-ea"/>
        <a:cs typeface="Tahoma" pitchFamily="34" charset="0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" pitchFamily="34" charset="0"/>
        <a:ea typeface="+mn-ea"/>
        <a:cs typeface="Tahoma" pitchFamily="34" charset="0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" pitchFamily="34" charset="0"/>
        <a:ea typeface="+mn-ea"/>
        <a:cs typeface="Tahoma" pitchFamily="34" charset="0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" pitchFamily="34" charset="0"/>
        <a:ea typeface="+mn-ea"/>
        <a:cs typeface="Tahoma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6">
          <p15:clr>
            <a:srgbClr val="A4A3A4"/>
          </p15:clr>
        </p15:guide>
        <p15:guide id="2" pos="229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e" initials="MKR" lastIdx="9" clrIdx="0">
    <p:extLst>
      <p:ext uri="{19B8F6BF-5375-455C-9EA6-DF929625EA0E}">
        <p15:presenceInfo xmlns:p15="http://schemas.microsoft.com/office/powerpoint/2012/main" userId="Mik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3F3F3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83208" autoAdjust="0"/>
  </p:normalViewPr>
  <p:slideViewPr>
    <p:cSldViewPr>
      <p:cViewPr varScale="1">
        <p:scale>
          <a:sx n="71" d="100"/>
          <a:sy n="71" d="100"/>
        </p:scale>
        <p:origin x="1138" y="62"/>
      </p:cViewPr>
      <p:guideLst>
        <p:guide orient="horz" pos="2160"/>
        <p:guide pos="3840"/>
      </p:guideLst>
    </p:cSldViewPr>
  </p:slideViewPr>
  <p:outlineViewPr>
    <p:cViewPr varScale="1">
      <p:scale>
        <a:sx n="170" d="200"/>
        <a:sy n="170" d="200"/>
      </p:scale>
      <p:origin x="0" y="-2769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28" y="-90"/>
      </p:cViewPr>
      <p:guideLst>
        <p:guide orient="horz" pos="2966"/>
        <p:guide pos="229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2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endParaRPr lang="nl-NL" sz="1100" b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3"/>
          </p:nvPr>
        </p:nvSpPr>
        <p:spPr>
          <a:xfrm>
            <a:off x="4021138" y="9710738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/>
            </a:lvl1pPr>
          </a:lstStyle>
          <a:p>
            <a:fld id="{88702CF5-0AB6-4A79-AB28-31641E71BC92}" type="slidenum">
              <a:rPr lang="nl-NL" sz="1100" b="0" smtClean="0"/>
              <a:pPr/>
              <a:t>‹#›</a:t>
            </a:fld>
            <a:endParaRPr lang="nl-NL" sz="1100" b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2"/>
          </p:nvPr>
        </p:nvSpPr>
        <p:spPr>
          <a:xfrm>
            <a:off x="0" y="9710738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/>
            </a:lvl1pPr>
          </a:lstStyle>
          <a:p>
            <a:pPr algn="ctr"/>
            <a:r>
              <a:rPr lang="de-DE" sz="1100" b="0" dirty="0"/>
              <a:t>(c) Darwin IT-</a:t>
            </a:r>
            <a:r>
              <a:rPr lang="de-DE" sz="1100" b="0" dirty="0" err="1"/>
              <a:t>Professionals</a:t>
            </a:r>
            <a:r>
              <a:rPr lang="de-DE" sz="1100" b="0" dirty="0"/>
              <a:t> B.V., Den Haag</a:t>
            </a:r>
            <a:endParaRPr lang="nl-NL" sz="11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/>
          <p:cNvSpPr>
            <a:spLocks noChangeArrowheads="1"/>
          </p:cNvSpPr>
          <p:nvPr/>
        </p:nvSpPr>
        <p:spPr bwMode="auto">
          <a:xfrm>
            <a:off x="0" y="0"/>
            <a:ext cx="7099300" cy="102235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sz="2400" b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0" y="0"/>
            <a:ext cx="7099300" cy="102235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sz="2400" b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3075" name="AutoShape 3"/>
          <p:cNvSpPr>
            <a:spLocks noChangeArrowheads="1"/>
          </p:cNvSpPr>
          <p:nvPr/>
        </p:nvSpPr>
        <p:spPr bwMode="auto">
          <a:xfrm>
            <a:off x="0" y="0"/>
            <a:ext cx="7099300" cy="102235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sz="2400" b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3482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874713" y="511175"/>
            <a:ext cx="8845551" cy="4976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592138" y="5748338"/>
            <a:ext cx="5908675" cy="38147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2960" tIns="12960" rIns="12960" bIns="12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nl-NL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071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850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r>
              <a:rPr lang="en-US" sz="1200" dirty="0" err="1"/>
              <a:t>Marketleader</a:t>
            </a:r>
            <a:r>
              <a:rPr lang="en-US" sz="1200" dirty="0"/>
              <a:t> of Public Cloud Services (30%) check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12694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r>
              <a:rPr lang="en-US" sz="1200" dirty="0" err="1"/>
              <a:t>Marketleader</a:t>
            </a:r>
            <a:r>
              <a:rPr lang="en-US" sz="1200" dirty="0"/>
              <a:t> of Public Cloud Services (30%) check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07192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53041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3028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65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915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710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932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47849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968-0988-40FC-9450-A28D197745C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56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968-0988-40FC-9450-A28D197745C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184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968-0988-40FC-9450-A28D197745C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55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903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3660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69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-874713" y="511175"/>
            <a:ext cx="8845551" cy="4976813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2653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-874713" y="511175"/>
            <a:ext cx="8845551" cy="4976813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SSH=Secure Shell</a:t>
            </a:r>
          </a:p>
        </p:txBody>
      </p:sp>
    </p:spTree>
    <p:extLst>
      <p:ext uri="{BB962C8B-B14F-4D97-AF65-F5344CB8AC3E}">
        <p14:creationId xmlns:p14="http://schemas.microsoft.com/office/powerpoint/2010/main" val="5662261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5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968-0988-40FC-9450-A28D197745C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289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968-0988-40FC-9450-A28D197745C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734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968-0988-40FC-9450-A28D197745C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377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7613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9909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9315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-874713" y="511175"/>
            <a:ext cx="8845551" cy="4976813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SSH=Secure Shell</a:t>
            </a:r>
          </a:p>
        </p:txBody>
      </p:sp>
    </p:spTree>
    <p:extLst>
      <p:ext uri="{BB962C8B-B14F-4D97-AF65-F5344CB8AC3E}">
        <p14:creationId xmlns:p14="http://schemas.microsoft.com/office/powerpoint/2010/main" val="2027169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-874713" y="511175"/>
            <a:ext cx="8845551" cy="4976813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047263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-874713" y="511175"/>
            <a:ext cx="8845551" cy="4976813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792730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Challenge: how to maintain/reach AS and RDS instances through the internet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C968-0988-40FC-9450-A28D197745C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561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0341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Momentum</a:t>
            </a:r>
          </a:p>
          <a:p>
            <a:r>
              <a:rPr lang="en-US" dirty="0"/>
              <a:t>-------------</a:t>
            </a:r>
          </a:p>
          <a:p>
            <a:r>
              <a:rPr lang="en-US" dirty="0"/>
              <a:t>Users</a:t>
            </a:r>
          </a:p>
          <a:p>
            <a:pPr lvl="1"/>
            <a:r>
              <a:rPr lang="en-US" dirty="0"/>
              <a:t>Wide variety of devices requires a wide variety of underlying technologies</a:t>
            </a:r>
          </a:p>
          <a:p>
            <a:r>
              <a:rPr lang="en-US" dirty="0"/>
              <a:t>Application layer</a:t>
            </a:r>
          </a:p>
          <a:p>
            <a:pPr lvl="1"/>
            <a:r>
              <a:rPr lang="en-US" dirty="0"/>
              <a:t>Global apps require global coverage -&gt; Cross region datacenters</a:t>
            </a:r>
          </a:p>
          <a:p>
            <a:r>
              <a:rPr lang="en-US" dirty="0"/>
              <a:t>Low-Level Software resources</a:t>
            </a:r>
          </a:p>
          <a:p>
            <a:pPr lvl="1"/>
            <a:r>
              <a:rPr lang="en-US" dirty="0"/>
              <a:t>Mismatch between license costs &amp; actual usage</a:t>
            </a:r>
          </a:p>
          <a:p>
            <a:r>
              <a:rPr lang="en-US" dirty="0"/>
              <a:t>Low-Level Hardware resources</a:t>
            </a:r>
          </a:p>
          <a:p>
            <a:pPr lvl="1"/>
            <a:r>
              <a:rPr lang="en-US" dirty="0"/>
              <a:t>Lack of flexibility often results in overcapacity</a:t>
            </a:r>
          </a:p>
          <a:p>
            <a:r>
              <a:rPr lang="en-US" dirty="0"/>
              <a:t>Physical layer</a:t>
            </a:r>
          </a:p>
          <a:p>
            <a:pPr lvl="1"/>
            <a:r>
              <a:rPr lang="en-US" dirty="0" err="1"/>
              <a:t>CaPex</a:t>
            </a:r>
            <a:r>
              <a:rPr lang="en-US" dirty="0"/>
              <a:t> within infrastructure upfront</a:t>
            </a:r>
          </a:p>
          <a:p>
            <a:r>
              <a:rPr lang="en-US" dirty="0"/>
              <a:t>To summarize</a:t>
            </a:r>
          </a:p>
          <a:p>
            <a:pPr lvl="1"/>
            <a:r>
              <a:rPr lang="en-US" dirty="0"/>
              <a:t>(New) initiatives (i.e. digital transformation) are (too) time consuming and (too) expensive on an on-premises platform</a:t>
            </a:r>
          </a:p>
          <a:p>
            <a:r>
              <a:rPr lang="en-US" dirty="0"/>
              <a:t>Public Cloud  Characteristics</a:t>
            </a:r>
          </a:p>
          <a:p>
            <a:r>
              <a:rPr lang="en-US" dirty="0"/>
              <a:t>-------------------------------</a:t>
            </a:r>
          </a:p>
          <a:p>
            <a:r>
              <a:rPr lang="en-US" dirty="0"/>
              <a:t>Self Service and Easy Access</a:t>
            </a:r>
          </a:p>
          <a:p>
            <a:r>
              <a:rPr lang="en-US" dirty="0"/>
              <a:t>Pay per Use/Utility</a:t>
            </a:r>
          </a:p>
          <a:p>
            <a:r>
              <a:rPr lang="en-US" dirty="0"/>
              <a:t>Immediate availability</a:t>
            </a:r>
          </a:p>
          <a:p>
            <a:r>
              <a:rPr lang="en-US" dirty="0"/>
              <a:t>Global availability on any device (anywhere, anything) anytime</a:t>
            </a:r>
          </a:p>
          <a:p>
            <a:r>
              <a:rPr lang="en-US" dirty="0"/>
              <a:t>Elastic &amp; Scalable</a:t>
            </a:r>
          </a:p>
          <a:p>
            <a:r>
              <a:rPr lang="en-US" dirty="0"/>
              <a:t>Virtualization and automation</a:t>
            </a:r>
          </a:p>
          <a:p>
            <a:r>
              <a:rPr lang="en-US" dirty="0"/>
              <a:t>Support of standard protocols (HTTP, REST, SOAP)</a:t>
            </a:r>
          </a:p>
          <a:p>
            <a:r>
              <a:rPr lang="en-US" dirty="0"/>
              <a:t>Resource pooling through multi-tenant architectures</a:t>
            </a:r>
          </a:p>
          <a:p>
            <a:r>
              <a:rPr lang="en-US" dirty="0"/>
              <a:t>Economy of scale</a:t>
            </a:r>
          </a:p>
          <a:p>
            <a:pPr lvl="1"/>
            <a:r>
              <a:rPr lang="en-US" dirty="0"/>
              <a:t>Competitive compute &amp; storage pricing</a:t>
            </a:r>
          </a:p>
          <a:p>
            <a:pPr lvl="1"/>
            <a:r>
              <a:rPr lang="en-US" dirty="0"/>
              <a:t>Wide variety of services</a:t>
            </a:r>
          </a:p>
          <a:p>
            <a:pPr lvl="1"/>
            <a:r>
              <a:rPr lang="en-US" dirty="0"/>
              <a:t>Wide variety of capabilities within services (e.g. Security)</a:t>
            </a:r>
          </a:p>
        </p:txBody>
      </p:sp>
    </p:spTree>
    <p:extLst>
      <p:ext uri="{BB962C8B-B14F-4D97-AF65-F5344CB8AC3E}">
        <p14:creationId xmlns:p14="http://schemas.microsoft.com/office/powerpoint/2010/main" val="38680475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7310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Momentum</a:t>
            </a:r>
          </a:p>
          <a:p>
            <a:r>
              <a:rPr lang="en-US" dirty="0"/>
              <a:t>-------------</a:t>
            </a:r>
          </a:p>
          <a:p>
            <a:r>
              <a:rPr lang="en-US" dirty="0"/>
              <a:t>Users</a:t>
            </a:r>
          </a:p>
          <a:p>
            <a:pPr lvl="1"/>
            <a:r>
              <a:rPr lang="en-US" dirty="0"/>
              <a:t>Wide variety of devices requires a wide variety of underlying technologies</a:t>
            </a:r>
          </a:p>
          <a:p>
            <a:r>
              <a:rPr lang="en-US" dirty="0"/>
              <a:t>Application layer</a:t>
            </a:r>
          </a:p>
          <a:p>
            <a:pPr lvl="1"/>
            <a:r>
              <a:rPr lang="en-US" dirty="0"/>
              <a:t>Global apps require global coverage -&gt; Cross region datacenters</a:t>
            </a:r>
          </a:p>
          <a:p>
            <a:r>
              <a:rPr lang="en-US" dirty="0"/>
              <a:t>Low-Level Software resources</a:t>
            </a:r>
          </a:p>
          <a:p>
            <a:pPr lvl="1"/>
            <a:r>
              <a:rPr lang="en-US" dirty="0"/>
              <a:t>Mismatch between license costs &amp; actual usage</a:t>
            </a:r>
          </a:p>
          <a:p>
            <a:r>
              <a:rPr lang="en-US" dirty="0"/>
              <a:t>Low-Level Hardware resources</a:t>
            </a:r>
          </a:p>
          <a:p>
            <a:pPr lvl="1"/>
            <a:r>
              <a:rPr lang="en-US" dirty="0"/>
              <a:t>Lack of flexibility often results in overcapacity</a:t>
            </a:r>
          </a:p>
          <a:p>
            <a:r>
              <a:rPr lang="en-US" dirty="0"/>
              <a:t>Physical layer</a:t>
            </a:r>
          </a:p>
          <a:p>
            <a:pPr lvl="1"/>
            <a:r>
              <a:rPr lang="en-US" dirty="0" err="1"/>
              <a:t>CaPex</a:t>
            </a:r>
            <a:r>
              <a:rPr lang="en-US" dirty="0"/>
              <a:t> within infrastructure upfront</a:t>
            </a:r>
          </a:p>
          <a:p>
            <a:r>
              <a:rPr lang="en-US" dirty="0"/>
              <a:t>To summarize</a:t>
            </a:r>
          </a:p>
          <a:p>
            <a:pPr lvl="1"/>
            <a:r>
              <a:rPr lang="en-US" dirty="0"/>
              <a:t>(New) initiatives (i.e. digital transformation) are (too) time consuming and (too) expensive on an on-premises platform</a:t>
            </a:r>
          </a:p>
          <a:p>
            <a:r>
              <a:rPr lang="en-US" dirty="0"/>
              <a:t>Public Cloud  Characteristics</a:t>
            </a:r>
          </a:p>
          <a:p>
            <a:r>
              <a:rPr lang="en-US" dirty="0"/>
              <a:t>-------------------------------</a:t>
            </a:r>
          </a:p>
          <a:p>
            <a:r>
              <a:rPr lang="en-US" dirty="0"/>
              <a:t>Self Service and Easy Access</a:t>
            </a:r>
          </a:p>
          <a:p>
            <a:r>
              <a:rPr lang="en-US" dirty="0"/>
              <a:t>Pay per Use/Utility</a:t>
            </a:r>
          </a:p>
          <a:p>
            <a:r>
              <a:rPr lang="en-US" dirty="0"/>
              <a:t>Immediate availability</a:t>
            </a:r>
          </a:p>
          <a:p>
            <a:r>
              <a:rPr lang="en-US" dirty="0"/>
              <a:t>Global availability on any device (anywhere, anything) anytime</a:t>
            </a:r>
          </a:p>
          <a:p>
            <a:r>
              <a:rPr lang="en-US" dirty="0"/>
              <a:t>Elastic &amp; Scalable</a:t>
            </a:r>
          </a:p>
          <a:p>
            <a:r>
              <a:rPr lang="en-US" dirty="0"/>
              <a:t>Virtualization and automation</a:t>
            </a:r>
          </a:p>
          <a:p>
            <a:r>
              <a:rPr lang="en-US" dirty="0"/>
              <a:t>Support of standard protocols (HTTP, REST, SOAP)</a:t>
            </a:r>
          </a:p>
          <a:p>
            <a:r>
              <a:rPr lang="en-US" dirty="0"/>
              <a:t>Resource pooling through multi-tenant architectures</a:t>
            </a:r>
          </a:p>
          <a:p>
            <a:r>
              <a:rPr lang="en-US" dirty="0"/>
              <a:t>Economy of scale</a:t>
            </a:r>
          </a:p>
          <a:p>
            <a:pPr lvl="1"/>
            <a:r>
              <a:rPr lang="en-US" dirty="0"/>
              <a:t>Competitive compute &amp; storage pricing</a:t>
            </a:r>
          </a:p>
          <a:p>
            <a:pPr lvl="1"/>
            <a:r>
              <a:rPr lang="en-US" dirty="0"/>
              <a:t>Wide variety of services</a:t>
            </a:r>
          </a:p>
          <a:p>
            <a:pPr lvl="1"/>
            <a:r>
              <a:rPr lang="en-US" dirty="0"/>
              <a:t>Wide variety of capabilities within services (e.g. Security)</a:t>
            </a:r>
          </a:p>
        </p:txBody>
      </p:sp>
    </p:spTree>
    <p:extLst>
      <p:ext uri="{BB962C8B-B14F-4D97-AF65-F5344CB8AC3E}">
        <p14:creationId xmlns:p14="http://schemas.microsoft.com/office/powerpoint/2010/main" val="3391650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">
            <a:extLst>
              <a:ext uri="{FF2B5EF4-FFF2-40B4-BE49-F238E27FC236}">
                <a16:creationId xmlns:a16="http://schemas.microsoft.com/office/drawing/2014/main" id="{4379B021-75E9-4F56-A7E7-D56655682F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000"/>
          <a:stretch/>
        </p:blipFill>
        <p:spPr>
          <a:xfrm>
            <a:off x="1" y="0"/>
            <a:ext cx="1463040" cy="6858000"/>
          </a:xfrm>
          <a:prstGeom prst="rect">
            <a:avLst/>
          </a:prstGeom>
        </p:spPr>
      </p:pic>
      <p:sp>
        <p:nvSpPr>
          <p:cNvPr id="3100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94367" y="2133601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nl-NL"/>
              <a:t>Klik om het opmaakprofiel te bewerken</a:t>
            </a:r>
          </a:p>
        </p:txBody>
      </p:sp>
      <p:sp>
        <p:nvSpPr>
          <p:cNvPr id="31006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46867" y="4221088"/>
            <a:ext cx="8534400" cy="1392238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nl-NL"/>
              <a:t>Klik om het opmaakprofiel van de modelondertitel te bewerken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8FD42C3F-6C80-45DB-83ED-1768D01CAC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5604" y="114191"/>
            <a:ext cx="3336925" cy="1938337"/>
          </a:xfrm>
          <a:prstGeom prst="rect">
            <a:avLst/>
          </a:prstGeom>
          <a:solidFill>
            <a:srgbClr val="F3F3F3"/>
          </a:solidFill>
          <a:ln w="25400">
            <a:noFill/>
            <a:miter lim="800000"/>
            <a:headEnd type="none" w="sm" len="sm"/>
            <a:tailEnd type="none" w="sm" len="sm"/>
          </a:ln>
        </p:spPr>
      </p:pic>
      <p:pic>
        <p:nvPicPr>
          <p:cNvPr id="17" name="Afbeelding 13" descr="logo-vijfhart.png">
            <a:extLst>
              <a:ext uri="{FF2B5EF4-FFF2-40B4-BE49-F238E27FC236}">
                <a16:creationId xmlns:a16="http://schemas.microsoft.com/office/drawing/2014/main" id="{F3376CE8-CAE4-4946-ABBA-4B27A4752E2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64" y="6379325"/>
            <a:ext cx="1099311" cy="258352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F9C9B4-E990-4D4C-8C9D-F464783B51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Copyright 2019, Darwin IT-Professionals B.V.</a:t>
            </a:r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488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488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4E813B-21EC-4217-9BB5-0BF2311932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Copyright 2019, Darwin IT-Professionals B.V.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4085" y="1270000"/>
            <a:ext cx="5228167" cy="4751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5451" y="1270000"/>
            <a:ext cx="5228167" cy="4751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510A4-D0C9-41A4-B4A5-ADDA1AF9DC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Copyright 2019, Darwin IT-Professionals B.V.</a:t>
            </a:r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7686" y="-27384"/>
            <a:ext cx="1057496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1478" y="1535113"/>
            <a:ext cx="508856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91478" y="2174875"/>
            <a:ext cx="508856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64086" y="1535113"/>
            <a:ext cx="510100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64086" y="2174875"/>
            <a:ext cx="51010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2214E-E1B6-42ED-BDE6-775ADB48F1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Copyright 2019, Darwin IT-Professionals B.V.</a:t>
            </a:r>
            <a:endParaRPr lang="nl-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FD8FCF-18B7-440E-9005-003FE2BB49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Copyright 2019, Darwin IT-Professionals B.V.</a:t>
            </a:r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E7EA0B-CC1F-4DBD-BDDD-012F5786B5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Copyright 2019, Darwin IT-Professionals B.V.</a:t>
            </a:r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67" y="273050"/>
            <a:ext cx="393643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3925" y="273051"/>
            <a:ext cx="615847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67" y="1435101"/>
            <a:ext cx="393643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F582EE-CD96-49A7-8880-28B2FF6C0F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Copyright 2019, Darwin IT-Professionals B.V.</a:t>
            </a:r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70E32C-2C97-4AB2-81F1-21A0E7AABE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Copyright 2019, Darwin IT-Professionals B.V.</a:t>
            </a:r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4DFCD1-F117-46C4-A496-0FB9EECBD1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Copyright 2019, Darwin IT-Professionals B.V.</a:t>
            </a:r>
            <a:endParaRPr lang="nl-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38734" y="0"/>
            <a:ext cx="2664884" cy="60213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4085" y="0"/>
            <a:ext cx="7791449" cy="60213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FB4CFD-1209-4F81-A121-3456E1688C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Copyright 2019, Darwin IT-Professionals B.V.</a:t>
            </a:r>
            <a:endParaRPr lang="nl-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93852" y="0"/>
            <a:ext cx="10409765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het opmaakprofiel van de modeltitel te bewerken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93852" y="1270000"/>
            <a:ext cx="10409765" cy="475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dirty="0"/>
              <a:t>Klik om het opmaakprofiel van de </a:t>
            </a:r>
            <a:r>
              <a:rPr lang="nl-NL" dirty="0" err="1"/>
              <a:t>modeltekst</a:t>
            </a:r>
            <a:r>
              <a:rPr lang="nl-NL" dirty="0"/>
              <a:t>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>
            <a:off x="1593852" y="6381328"/>
            <a:ext cx="103166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eaLnBrk="0" hangingPunct="0">
              <a:spcBef>
                <a:spcPct val="30000"/>
              </a:spcBef>
              <a:defRPr/>
            </a:pPr>
            <a:endParaRPr lang="nl-NL" sz="1200">
              <a:latin typeface="Arial" charset="0"/>
            </a:endParaRPr>
          </a:p>
        </p:txBody>
      </p:sp>
      <p:sp>
        <p:nvSpPr>
          <p:cNvPr id="1072140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493718"/>
            <a:ext cx="28448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chemeClr val="bg1">
                    <a:lumMod val="6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83034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5217" y="6479430"/>
            <a:ext cx="5761567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solidFill>
                  <a:schemeClr val="bg1">
                    <a:lumMod val="6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© Copyright 2018, Darwin IT-Professionals B.V.</a:t>
            </a:r>
            <a:endParaRPr lang="nl-NL" dirty="0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FA715018-0948-4F99-913B-7A1C9324E2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000"/>
          <a:stretch/>
        </p:blipFill>
        <p:spPr>
          <a:xfrm>
            <a:off x="1" y="0"/>
            <a:ext cx="1463040" cy="6858000"/>
          </a:xfrm>
          <a:prstGeom prst="rect">
            <a:avLst/>
          </a:prstGeom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4ACAD6B5-0E61-4F47-BEFB-B0210A3008E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4" cstate="print"/>
          <a:srcRect t="-1" b="1557"/>
          <a:stretch/>
        </p:blipFill>
        <p:spPr bwMode="auto">
          <a:xfrm>
            <a:off x="0" y="6021389"/>
            <a:ext cx="1463040" cy="836612"/>
          </a:xfrm>
          <a:prstGeom prst="rect">
            <a:avLst/>
          </a:prstGeom>
          <a:solidFill>
            <a:srgbClr val="F3F3F3"/>
          </a:solidFill>
          <a:ln w="25400">
            <a:noFill/>
            <a:miter lim="800000"/>
            <a:headEnd type="none" w="sm" len="sm"/>
            <a:tailEnd type="none" w="sm" len="sm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ransition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952500" indent="-284163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Verdana" panose="020B0604030504040204" pitchFamily="34" charset="0"/>
        <a:buChar char="–"/>
        <a:defRPr>
          <a:solidFill>
            <a:schemeClr val="tx1"/>
          </a:solidFill>
          <a:latin typeface="+mn-lt"/>
          <a:cs typeface="+mn-cs"/>
        </a:defRPr>
      </a:lvl2pPr>
      <a:lvl3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Verdana" panose="020B0604030504040204" pitchFamily="34" charset="0"/>
        <a:buChar char="▪"/>
        <a:defRPr sz="1600">
          <a:solidFill>
            <a:schemeClr val="tx1"/>
          </a:solidFill>
          <a:latin typeface="+mn-lt"/>
          <a:cs typeface="+mn-cs"/>
        </a:defRPr>
      </a:lvl3pPr>
      <a:lvl4pPr marL="1790700" indent="-22860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Verdana" panose="020B0604030504040204" pitchFamily="34" charset="0"/>
        <a:buChar char="◦"/>
        <a:defRPr sz="1600">
          <a:solidFill>
            <a:schemeClr val="tx1"/>
          </a:solidFill>
          <a:latin typeface="+mn-lt"/>
          <a:cs typeface="+mn-cs"/>
        </a:defRPr>
      </a:lvl4pPr>
      <a:lvl5pPr marL="2209800" indent="-22860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Verdana" panose="020B0604030504040204" pitchFamily="34" charset="0"/>
        <a:buChar char="▫"/>
        <a:defRPr sz="1600">
          <a:solidFill>
            <a:schemeClr val="tx1"/>
          </a:solidFill>
          <a:latin typeface="+mn-lt"/>
          <a:cs typeface="+mn-cs"/>
        </a:defRPr>
      </a:lvl5pPr>
      <a:lvl6pPr marL="2667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s"/>
        <a:defRPr sz="1600">
          <a:solidFill>
            <a:schemeClr val="tx1"/>
          </a:solidFill>
          <a:latin typeface="+mn-lt"/>
          <a:cs typeface="+mn-cs"/>
        </a:defRPr>
      </a:lvl6pPr>
      <a:lvl7pPr marL="3124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s"/>
        <a:defRPr sz="1600">
          <a:solidFill>
            <a:schemeClr val="tx1"/>
          </a:solidFill>
          <a:latin typeface="+mn-lt"/>
          <a:cs typeface="+mn-cs"/>
        </a:defRPr>
      </a:lvl7pPr>
      <a:lvl8pPr marL="35814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s"/>
        <a:defRPr sz="1600">
          <a:solidFill>
            <a:schemeClr val="tx1"/>
          </a:solidFill>
          <a:latin typeface="+mn-lt"/>
          <a:cs typeface="+mn-cs"/>
        </a:defRPr>
      </a:lvl8pPr>
      <a:lvl9pPr marL="40386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s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kpndemo16082019.s3.eu-central-1.amazonaws.com/KPNdemo.txt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aw.io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calculator.s3.amazonaws.com/index.html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alculator.aws/#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alculator.aws/#/" TargetMode="External"/><Relationship Id="rId4" Type="http://schemas.openxmlformats.org/officeDocument/2006/relationships/hyperlink" Target="https://calculator.s3.amazonaws.com/index.html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3D7517-EDCA-48C2-885D-0AAD1881B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4367" y="2133601"/>
            <a:ext cx="10363200" cy="1470025"/>
          </a:xfrm>
        </p:spPr>
        <p:txBody>
          <a:bodyPr/>
          <a:lstStyle/>
          <a:p>
            <a:r>
              <a:rPr lang="en-US" dirty="0"/>
              <a:t>AWS Fundamentals</a:t>
            </a:r>
            <a:br>
              <a:rPr lang="en-US" dirty="0"/>
            </a:br>
            <a:r>
              <a:rPr lang="en-US" dirty="0"/>
              <a:t>NN 13-01-2020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CCDB1B8-F68D-43B7-94D6-01C7D57D81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Frank Brink</a:t>
            </a:r>
          </a:p>
        </p:txBody>
      </p:sp>
    </p:spTree>
    <p:extLst>
      <p:ext uri="{BB962C8B-B14F-4D97-AF65-F5344CB8AC3E}">
        <p14:creationId xmlns:p14="http://schemas.microsoft.com/office/powerpoint/2010/main" val="330051084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852" y="980728"/>
            <a:ext cx="10409765" cy="5544616"/>
          </a:xfrm>
        </p:spPr>
        <p:txBody>
          <a:bodyPr/>
          <a:lstStyle/>
          <a:p>
            <a:r>
              <a:rPr lang="en-US" sz="2800" dirty="0"/>
              <a:t>Public Cloud Introduction</a:t>
            </a:r>
          </a:p>
          <a:p>
            <a:r>
              <a:rPr lang="en-US" sz="2800" dirty="0"/>
              <a:t>AWS Characteristics</a:t>
            </a:r>
          </a:p>
          <a:p>
            <a:r>
              <a:rPr lang="en-US" sz="2800" dirty="0"/>
              <a:t>AWS Resources Diagram</a:t>
            </a:r>
          </a:p>
          <a:p>
            <a:r>
              <a:rPr lang="en-US" sz="2800" dirty="0"/>
              <a:t>AWS Services</a:t>
            </a:r>
          </a:p>
          <a:p>
            <a:pPr lvl="1"/>
            <a:r>
              <a:rPr lang="en-US" sz="2600" dirty="0"/>
              <a:t>S3</a:t>
            </a:r>
          </a:p>
          <a:p>
            <a:pPr lvl="1"/>
            <a:r>
              <a:rPr lang="en-US" sz="2600" dirty="0"/>
              <a:t>VPC</a:t>
            </a:r>
          </a:p>
          <a:p>
            <a:pPr lvl="1"/>
            <a:r>
              <a:rPr lang="en-US" sz="2600" dirty="0"/>
              <a:t>EC2</a:t>
            </a:r>
          </a:p>
          <a:p>
            <a:pPr lvl="1"/>
            <a:r>
              <a:rPr lang="en-US" sz="2600" dirty="0"/>
              <a:t>RDS</a:t>
            </a:r>
          </a:p>
          <a:p>
            <a:r>
              <a:rPr lang="en-US" sz="2800" dirty="0"/>
              <a:t>Cost Estimation</a:t>
            </a:r>
          </a:p>
          <a:p>
            <a:r>
              <a:rPr lang="en-US" sz="2800" dirty="0"/>
              <a:t>Summary and Q&amp;A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9C9B4-E990-4D4C-8C9D-F464783B515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AC15CB-B4FE-4681-AFD9-2B7BAF7A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Copyright 2018, Darwin IT-Professionals B.V.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92033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Give a-ways for this 1-day AWS Primer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852" y="1124744"/>
            <a:ext cx="10409765" cy="4751388"/>
          </a:xfrm>
        </p:spPr>
        <p:txBody>
          <a:bodyPr/>
          <a:lstStyle/>
          <a:p>
            <a:r>
              <a:rPr lang="en-US" sz="2400" dirty="0"/>
              <a:t>How easy and fast to create resources: Public-Cloud Wow effect</a:t>
            </a:r>
          </a:p>
          <a:p>
            <a:r>
              <a:rPr lang="en-US" sz="2400" dirty="0"/>
              <a:t>AWS Services are rarely alone - they are highly dependent</a:t>
            </a:r>
          </a:p>
          <a:p>
            <a:r>
              <a:rPr lang="en-US" sz="2400" dirty="0"/>
              <a:t>AWS console as your single (and visual) point of control </a:t>
            </a:r>
          </a:p>
          <a:p>
            <a:pPr lvl="1"/>
            <a:r>
              <a:rPr lang="en-US" sz="2000" dirty="0"/>
              <a:t>It visualizes all resources - no matter how created</a:t>
            </a:r>
          </a:p>
          <a:p>
            <a:pPr lvl="1"/>
            <a:r>
              <a:rPr lang="en-US" sz="2000" dirty="0"/>
              <a:t>The basis of your billing – all billing items should be found</a:t>
            </a:r>
          </a:p>
          <a:p>
            <a:r>
              <a:rPr lang="en-US" sz="2400" dirty="0"/>
              <a:t>Introduction of a resource diagram with draw.io to visualize the dependencies between resources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9C9B4-E990-4D4C-8C9D-F464783B515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AC15CB-B4FE-4681-AFD9-2B7BAF7A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Copyright 2018, Darwin IT-Professionals B.V.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04914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Terminology and Context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deployment models</a:t>
            </a:r>
          </a:p>
          <a:p>
            <a:pPr lvl="1"/>
            <a:r>
              <a:rPr lang="en-US" dirty="0"/>
              <a:t>Private Cloud</a:t>
            </a:r>
          </a:p>
          <a:p>
            <a:pPr lvl="1"/>
            <a:r>
              <a:rPr lang="en-US" dirty="0"/>
              <a:t>Public Cloud</a:t>
            </a:r>
          </a:p>
          <a:p>
            <a:pPr lvl="1"/>
            <a:r>
              <a:rPr lang="en-US" dirty="0"/>
              <a:t>Hybrid Cloud</a:t>
            </a:r>
          </a:p>
          <a:p>
            <a:pPr marL="668337" lvl="1" indent="0">
              <a:buNone/>
            </a:pPr>
            <a:r>
              <a:rPr lang="en-US" dirty="0"/>
              <a:t>Amazon Web Services (AWS) emphasizes on Public Cloud</a:t>
            </a:r>
          </a:p>
          <a:p>
            <a:pPr marL="668337" lvl="1" indent="0">
              <a:buNone/>
            </a:pPr>
            <a:r>
              <a:rPr lang="en-US" dirty="0"/>
              <a:t>Public cloud fundamentals will be discussed later</a:t>
            </a:r>
          </a:p>
          <a:p>
            <a:r>
              <a:rPr lang="en-US" dirty="0"/>
              <a:t>Public Cloud Categories</a:t>
            </a:r>
          </a:p>
          <a:p>
            <a:pPr lvl="1"/>
            <a:r>
              <a:rPr lang="en-US" dirty="0" err="1"/>
              <a:t>Saas</a:t>
            </a:r>
            <a:r>
              <a:rPr lang="en-US" dirty="0"/>
              <a:t> (Software as a Service), e.g. HRM</a:t>
            </a:r>
          </a:p>
          <a:p>
            <a:pPr lvl="1"/>
            <a:r>
              <a:rPr lang="en-US" dirty="0" err="1"/>
              <a:t>Paas</a:t>
            </a:r>
            <a:r>
              <a:rPr lang="en-US" dirty="0"/>
              <a:t> (Platform as a Service), e.g. Database, Middleware</a:t>
            </a:r>
          </a:p>
          <a:p>
            <a:pPr lvl="1"/>
            <a:r>
              <a:rPr lang="en-US" dirty="0" err="1"/>
              <a:t>Iaas</a:t>
            </a:r>
            <a:r>
              <a:rPr lang="en-US" dirty="0"/>
              <a:t> (Infrastructure as a Service) e.g. compute, storage, network</a:t>
            </a:r>
          </a:p>
          <a:p>
            <a:pPr marL="668337" lvl="1" indent="0">
              <a:buNone/>
            </a:pPr>
            <a:r>
              <a:rPr lang="en-US" dirty="0"/>
              <a:t>Amazon Web Services (AWS) delivers cloud services in all above categories. </a:t>
            </a:r>
          </a:p>
          <a:p>
            <a:pPr marL="668337" lvl="1" indent="0">
              <a:buNone/>
            </a:pPr>
            <a:r>
              <a:rPr lang="en-US" dirty="0"/>
              <a:t>AWS promotes the delivery of </a:t>
            </a:r>
            <a:r>
              <a:rPr lang="en-US" dirty="0" err="1"/>
              <a:t>Saas</a:t>
            </a:r>
            <a:r>
              <a:rPr lang="en-US" dirty="0"/>
              <a:t> services by Partners through AWS marketplace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6607E5B-35F7-4280-9378-4782E688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Copyright 2018, Darwin IT-Professionals B.V.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2040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Public</a:t>
            </a:r>
            <a:r>
              <a:rPr lang="en-US" dirty="0"/>
              <a:t> Cloud fundamentals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852" y="1270000"/>
            <a:ext cx="10409765" cy="7631608"/>
          </a:xfrm>
        </p:spPr>
        <p:txBody>
          <a:bodyPr/>
          <a:lstStyle/>
          <a:p>
            <a:r>
              <a:rPr lang="en-US" sz="1800" dirty="0"/>
              <a:t>Self Service and Easy Access</a:t>
            </a:r>
          </a:p>
          <a:p>
            <a:r>
              <a:rPr lang="en-US" sz="1800" dirty="0"/>
              <a:t>Pay per Use/Utility</a:t>
            </a:r>
          </a:p>
          <a:p>
            <a:r>
              <a:rPr lang="en-US" sz="1800" dirty="0"/>
              <a:t>Immediate availability</a:t>
            </a:r>
          </a:p>
          <a:p>
            <a:r>
              <a:rPr lang="en-US" sz="1800" dirty="0"/>
              <a:t>Global availability through regions/zones </a:t>
            </a:r>
          </a:p>
          <a:p>
            <a:pPr lvl="1"/>
            <a:r>
              <a:rPr lang="en-US" sz="1600" dirty="0"/>
              <a:t>Enabling anywhere, anything, anytime experience</a:t>
            </a:r>
          </a:p>
          <a:p>
            <a:r>
              <a:rPr lang="en-US" sz="1800" dirty="0"/>
              <a:t>Elastic &amp; Scalable</a:t>
            </a:r>
          </a:p>
          <a:p>
            <a:r>
              <a:rPr lang="en-US" sz="1800" dirty="0"/>
              <a:t>Virtualization and automation</a:t>
            </a:r>
          </a:p>
          <a:p>
            <a:r>
              <a:rPr lang="en-US" sz="1800" dirty="0"/>
              <a:t>Support of standard protocols (HTTP, REST, SOAP, Docker, K8s,…)</a:t>
            </a:r>
          </a:p>
          <a:p>
            <a:r>
              <a:rPr lang="en-US" sz="1800" dirty="0"/>
              <a:t>Resource pooling through multi-tenant architectures</a:t>
            </a:r>
          </a:p>
          <a:p>
            <a:r>
              <a:rPr lang="en-US" sz="1800" dirty="0"/>
              <a:t>The User Experience changes much more rapidly</a:t>
            </a:r>
          </a:p>
          <a:p>
            <a:r>
              <a:rPr lang="en-US" sz="1800" dirty="0"/>
              <a:t>Cost Estimators</a:t>
            </a:r>
          </a:p>
          <a:p>
            <a:r>
              <a:rPr lang="en-US" sz="1800" dirty="0"/>
              <a:t>Economy of scale</a:t>
            </a:r>
          </a:p>
          <a:p>
            <a:pPr lvl="1"/>
            <a:r>
              <a:rPr lang="en-US" sz="1600" dirty="0"/>
              <a:t>Competitive compute &amp; storage pricing</a:t>
            </a:r>
          </a:p>
          <a:p>
            <a:pPr lvl="1"/>
            <a:r>
              <a:rPr lang="en-US" sz="1600" dirty="0"/>
              <a:t>Wide variety of services</a:t>
            </a:r>
          </a:p>
          <a:p>
            <a:pPr lvl="1"/>
            <a:r>
              <a:rPr lang="en-US" sz="1600" dirty="0"/>
              <a:t>Wide variety of capabilities within services (e.g. Security)</a:t>
            </a:r>
          </a:p>
          <a:p>
            <a:r>
              <a:rPr lang="en-US" sz="1800" dirty="0"/>
              <a:t>GUI, API and Command line interfaces to manage cloud services</a:t>
            </a:r>
          </a:p>
          <a:p>
            <a:pPr lvl="1"/>
            <a:endParaRPr lang="en-US" sz="160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9C9B4-E990-4D4C-8C9D-F464783B515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088E486-35A3-407E-B510-5B4FDA3E3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2018, Darwin IT-Professionals B.V.</a:t>
            </a:r>
            <a:endParaRPr lang="nl-NL"/>
          </a:p>
        </p:txBody>
      </p:sp>
      <p:pic>
        <p:nvPicPr>
          <p:cNvPr id="78850" name="Picture 2" descr="Image result for credit card">
            <a:extLst>
              <a:ext uri="{FF2B5EF4-FFF2-40B4-BE49-F238E27FC236}">
                <a16:creationId xmlns:a16="http://schemas.microsoft.com/office/drawing/2014/main" id="{C805AA3E-2B93-46C9-8C58-A12EB3F3B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765" y="520700"/>
            <a:ext cx="25527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1485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BF3CDC24-3FD6-43F9-926E-CF97B2234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20" y="3717032"/>
            <a:ext cx="3951650" cy="10414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852" y="0"/>
            <a:ext cx="10409765" cy="1041400"/>
          </a:xfrm>
        </p:spPr>
        <p:txBody>
          <a:bodyPr/>
          <a:lstStyle/>
          <a:p>
            <a:r>
              <a:rPr lang="en-US" dirty="0"/>
              <a:t>AWS Characteristics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852" y="981868"/>
            <a:ext cx="10409765" cy="4751388"/>
          </a:xfrm>
        </p:spPr>
        <p:txBody>
          <a:bodyPr/>
          <a:lstStyle/>
          <a:p>
            <a:r>
              <a:rPr lang="en-US" sz="1800" dirty="0"/>
              <a:t>Part of Amazon </a:t>
            </a:r>
            <a:r>
              <a:rPr lang="en-US" sz="1800" dirty="0" err="1"/>
              <a:t>inc.</a:t>
            </a:r>
            <a:endParaRPr lang="en-US" sz="1800" dirty="0"/>
          </a:p>
          <a:p>
            <a:r>
              <a:rPr lang="en-US" sz="1800" dirty="0"/>
              <a:t>AWS contributes 13% of total Amazon revenue (Apr. 2019)</a:t>
            </a:r>
          </a:p>
          <a:p>
            <a:r>
              <a:rPr lang="en-US" sz="1800" dirty="0"/>
              <a:t>Public Cloud provider since 2002</a:t>
            </a:r>
          </a:p>
          <a:p>
            <a:r>
              <a:rPr lang="en-US" sz="1800" dirty="0"/>
              <a:t>Wide range of cloud services (</a:t>
            </a:r>
            <a:r>
              <a:rPr lang="en-US" sz="1800" dirty="0" err="1"/>
              <a:t>Paas&amp;Iaas</a:t>
            </a:r>
            <a:r>
              <a:rPr lang="en-US" sz="1800" dirty="0"/>
              <a:t>)</a:t>
            </a:r>
          </a:p>
          <a:p>
            <a:pPr lvl="1"/>
            <a:r>
              <a:rPr lang="en-US" sz="1600" dirty="0"/>
              <a:t>&gt; 25 Categories</a:t>
            </a:r>
          </a:p>
          <a:p>
            <a:pPr lvl="2"/>
            <a:r>
              <a:rPr lang="en-US" sz="1400" dirty="0"/>
              <a:t>Compute, Storage, Database, IoT, Containers, …</a:t>
            </a:r>
          </a:p>
          <a:p>
            <a:pPr lvl="1"/>
            <a:r>
              <a:rPr lang="en-US" sz="1600" dirty="0"/>
              <a:t>&gt; 165 Services (April 2019)</a:t>
            </a:r>
          </a:p>
          <a:p>
            <a:pPr lvl="2"/>
            <a:r>
              <a:rPr lang="en-US" sz="1400" dirty="0"/>
              <a:t>EC2, S3, RDS, CloudWatch, EKS</a:t>
            </a:r>
          </a:p>
          <a:p>
            <a:r>
              <a:rPr lang="en-US" sz="1800" dirty="0" err="1"/>
              <a:t>Saas</a:t>
            </a:r>
            <a:r>
              <a:rPr lang="en-US" sz="1800" dirty="0"/>
              <a:t> offering for a large part through AWS marketplace</a:t>
            </a:r>
          </a:p>
          <a:p>
            <a:endParaRPr lang="en-US" sz="1800" dirty="0"/>
          </a:p>
          <a:p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Support of wide range </a:t>
            </a:r>
            <a:r>
              <a:rPr lang="en-US" sz="1800" dirty="0" err="1"/>
              <a:t>OpenSource</a:t>
            </a:r>
            <a:r>
              <a:rPr lang="en-US" sz="1800" dirty="0"/>
              <a:t> technologies</a:t>
            </a:r>
          </a:p>
          <a:p>
            <a:pPr lvl="1"/>
            <a:r>
              <a:rPr lang="en-US" sz="1600" dirty="0"/>
              <a:t>Docker, k8s, </a:t>
            </a:r>
            <a:r>
              <a:rPr lang="en-US" sz="1600" dirty="0" err="1"/>
              <a:t>Javascript</a:t>
            </a:r>
            <a:r>
              <a:rPr lang="en-US" sz="1600" dirty="0"/>
              <a:t>, java, python, …</a:t>
            </a:r>
          </a:p>
          <a:p>
            <a:r>
              <a:rPr lang="en-US" sz="1800" dirty="0"/>
              <a:t>D&amp;R capabilities through Regions and Availability zones</a:t>
            </a:r>
          </a:p>
          <a:p>
            <a:r>
              <a:rPr lang="en-US" sz="1800" dirty="0"/>
              <a:t>UI and/or API (CLI, REST, SOAP)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9C9B4-E990-4D4C-8C9D-F464783B515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07285EC-31FC-4002-91FB-3E210A4A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2018, Darwin IT-Professionals B.V.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8588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852" y="0"/>
            <a:ext cx="10409765" cy="1041400"/>
          </a:xfrm>
        </p:spPr>
        <p:txBody>
          <a:bodyPr/>
          <a:lstStyle/>
          <a:p>
            <a:r>
              <a:rPr lang="en-US" dirty="0"/>
              <a:t>AWS </a:t>
            </a:r>
            <a:r>
              <a:rPr lang="en-US" dirty="0" err="1"/>
              <a:t>Marketshare</a:t>
            </a:r>
            <a:r>
              <a:rPr lang="en-US" dirty="0"/>
              <a:t> (</a:t>
            </a:r>
            <a:r>
              <a:rPr lang="en-US" dirty="0" err="1"/>
              <a:t>Iaas</a:t>
            </a:r>
            <a:r>
              <a:rPr lang="en-US" dirty="0"/>
              <a:t> perspective) 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9C9B4-E990-4D4C-8C9D-F464783B515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07285EC-31FC-4002-91FB-3E210A4A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2018, Darwin IT-Professionals B.V.</a:t>
            </a:r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095F6B-E3BF-41EA-BF80-AAA1D232E7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852" y="871405"/>
            <a:ext cx="6590380" cy="555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577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92E6F5E-B434-430C-8A10-722B55D43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64" y="717364"/>
            <a:ext cx="6472927" cy="288461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Regions &amp; Availability Zones (AZ)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4192" y="836712"/>
            <a:ext cx="4261040" cy="4835626"/>
          </a:xfrm>
        </p:spPr>
        <p:txBody>
          <a:bodyPr/>
          <a:lstStyle/>
          <a:p>
            <a:r>
              <a:rPr lang="en-US" sz="1600" dirty="0"/>
              <a:t>Global</a:t>
            </a:r>
          </a:p>
          <a:p>
            <a:pPr lvl="1"/>
            <a:r>
              <a:rPr lang="en-US" sz="1400" dirty="0"/>
              <a:t>Accounts</a:t>
            </a:r>
          </a:p>
          <a:p>
            <a:pPr lvl="1"/>
            <a:r>
              <a:rPr lang="en-US" sz="1400" dirty="0"/>
              <a:t>IAM artifacts (users, groups, roles)</a:t>
            </a:r>
          </a:p>
          <a:p>
            <a:r>
              <a:rPr lang="en-US" sz="1600" dirty="0"/>
              <a:t>Regions (&gt;20)</a:t>
            </a:r>
          </a:p>
          <a:p>
            <a:pPr lvl="1"/>
            <a:r>
              <a:rPr lang="en-US" sz="1400" dirty="0"/>
              <a:t>E.g. Ireland, Frankfurt</a:t>
            </a:r>
          </a:p>
          <a:p>
            <a:pPr lvl="2"/>
            <a:r>
              <a:rPr lang="en-US" sz="1200" dirty="0"/>
              <a:t>eu-west-1, eu-central-1</a:t>
            </a:r>
          </a:p>
          <a:p>
            <a:pPr lvl="1"/>
            <a:r>
              <a:rPr lang="en-US" sz="1400" dirty="0"/>
              <a:t>Placeholder of AWS services</a:t>
            </a:r>
          </a:p>
          <a:p>
            <a:pPr lvl="1"/>
            <a:r>
              <a:rPr lang="en-US" sz="1400" dirty="0"/>
              <a:t>S3 Storage (mirrored across AZ’s)</a:t>
            </a:r>
          </a:p>
          <a:p>
            <a:pPr lvl="1"/>
            <a:r>
              <a:rPr lang="en-US" sz="1400" dirty="0"/>
              <a:t>Not all services available in each region</a:t>
            </a:r>
          </a:p>
          <a:p>
            <a:r>
              <a:rPr lang="en-US" sz="1600" dirty="0"/>
              <a:t>AZ’s (as in Datacenter(s)) &gt;60</a:t>
            </a:r>
          </a:p>
          <a:p>
            <a:pPr lvl="1"/>
            <a:r>
              <a:rPr lang="en-US" sz="1400" dirty="0"/>
              <a:t>E.g. eu-west-1a, eu-west-1b, </a:t>
            </a:r>
            <a:br>
              <a:rPr lang="en-US" sz="1400" dirty="0"/>
            </a:br>
            <a:r>
              <a:rPr lang="en-US" sz="1400" dirty="0"/>
              <a:t>eu-west-1c</a:t>
            </a:r>
          </a:p>
          <a:p>
            <a:pPr lvl="1"/>
            <a:r>
              <a:rPr lang="en-US" sz="1400" dirty="0"/>
              <a:t>Location of AWS service instances</a:t>
            </a:r>
          </a:p>
          <a:p>
            <a:r>
              <a:rPr lang="en-US" sz="1600" dirty="0"/>
              <a:t>Foundation for</a:t>
            </a:r>
          </a:p>
          <a:p>
            <a:pPr lvl="1"/>
            <a:r>
              <a:rPr lang="en-US" sz="1400" dirty="0"/>
              <a:t>Resilience (elasticity)</a:t>
            </a:r>
          </a:p>
          <a:p>
            <a:pPr lvl="1"/>
            <a:r>
              <a:rPr lang="en-US" sz="1400" dirty="0"/>
              <a:t>HA and D&amp;R architecture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9C9B4-E990-4D4C-8C9D-F464783B515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7B85C2B-C0E9-4C4F-A2DA-5BB695FDF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5216" y="6499917"/>
            <a:ext cx="5761567" cy="261938"/>
          </a:xfrm>
        </p:spPr>
        <p:txBody>
          <a:bodyPr/>
          <a:lstStyle/>
          <a:p>
            <a:r>
              <a:rPr lang="en-US"/>
              <a:t>© Copyright 2018, Darwin IT-Professionals B.V.</a:t>
            </a:r>
            <a:endParaRPr lang="nl-NL"/>
          </a:p>
        </p:txBody>
      </p:sp>
      <p:pic>
        <p:nvPicPr>
          <p:cNvPr id="1026" name="Picture 2" descr="&#10;    Regions and Availability Zones&#10;   ">
            <a:extLst>
              <a:ext uri="{FF2B5EF4-FFF2-40B4-BE49-F238E27FC236}">
                <a16:creationId xmlns:a16="http://schemas.microsoft.com/office/drawing/2014/main" id="{D7C8D3E0-B653-45FD-8FE2-98D904D9E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3609020"/>
            <a:ext cx="4615401" cy="253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2954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Regions &amp; Availability Zones (AZ): Frankfurt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9C9B4-E990-4D4C-8C9D-F464783B515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7B85C2B-C0E9-4C4F-A2DA-5BB695FDF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2018, Darwin IT-Professionals B.V.</a:t>
            </a:r>
            <a:endParaRPr lang="nl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9974B6-0C6B-4B68-8794-9E28D469E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1058974"/>
            <a:ext cx="5715495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40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AA30932D-0D08-4BE8-AF1D-F0E528C05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512" y="1161609"/>
            <a:ext cx="10941487" cy="511994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AWS Console: Services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64D15C18-9AF2-4171-B92C-EE70825C4D0D}"/>
              </a:ext>
            </a:extLst>
          </p:cNvPr>
          <p:cNvCxnSpPr>
            <a:cxnSpLocks/>
          </p:cNvCxnSpPr>
          <p:nvPr/>
        </p:nvCxnSpPr>
        <p:spPr bwMode="auto">
          <a:xfrm>
            <a:off x="2444986" y="760420"/>
            <a:ext cx="770231" cy="245255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C7647E62-DA5E-4DE6-A8E4-110833479DD7}"/>
              </a:ext>
            </a:extLst>
          </p:cNvPr>
          <p:cNvCxnSpPr>
            <a:cxnSpLocks/>
          </p:cNvCxnSpPr>
          <p:nvPr/>
        </p:nvCxnSpPr>
        <p:spPr bwMode="auto">
          <a:xfrm>
            <a:off x="9768408" y="550116"/>
            <a:ext cx="496974" cy="57080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Tekstvak 18">
            <a:extLst>
              <a:ext uri="{FF2B5EF4-FFF2-40B4-BE49-F238E27FC236}">
                <a16:creationId xmlns:a16="http://schemas.microsoft.com/office/drawing/2014/main" id="{850A59C5-5BAA-4771-A5D7-206D5B9DD847}"/>
              </a:ext>
            </a:extLst>
          </p:cNvPr>
          <p:cNvSpPr txBox="1"/>
          <p:nvPr/>
        </p:nvSpPr>
        <p:spPr>
          <a:xfrm>
            <a:off x="9246759" y="34342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Account</a:t>
            </a: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D247B08D-7F9D-4C3C-B5AC-E0D55546AFBE}"/>
              </a:ext>
            </a:extLst>
          </p:cNvPr>
          <p:cNvSpPr txBox="1"/>
          <p:nvPr/>
        </p:nvSpPr>
        <p:spPr>
          <a:xfrm>
            <a:off x="10573331" y="343429"/>
            <a:ext cx="707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Region</a:t>
            </a:r>
          </a:p>
        </p:txBody>
      </p: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BB452B69-BE70-46D0-8586-15F84A6BDD00}"/>
              </a:ext>
            </a:extLst>
          </p:cNvPr>
          <p:cNvCxnSpPr>
            <a:cxnSpLocks/>
            <a:stCxn id="20" idx="2"/>
          </p:cNvCxnSpPr>
          <p:nvPr/>
        </p:nvCxnSpPr>
        <p:spPr bwMode="auto">
          <a:xfrm>
            <a:off x="10926954" y="620428"/>
            <a:ext cx="0" cy="46166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9E2E03D-E4BB-49D4-8ED4-976EE2B2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3CA06D32-F75D-4592-A40F-7B53264B275F}"/>
              </a:ext>
            </a:extLst>
          </p:cNvPr>
          <p:cNvSpPr txBox="1"/>
          <p:nvPr/>
        </p:nvSpPr>
        <p:spPr>
          <a:xfrm>
            <a:off x="11365419" y="332656"/>
            <a:ext cx="776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Support</a:t>
            </a:r>
            <a:br>
              <a:rPr lang="en-US" dirty="0"/>
            </a:br>
            <a:r>
              <a:rPr lang="en-US" dirty="0"/>
              <a:t>Center</a:t>
            </a:r>
          </a:p>
        </p:txBody>
      </p: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7A723723-07A3-4040-A812-CBD93C38F695}"/>
              </a:ext>
            </a:extLst>
          </p:cNvPr>
          <p:cNvCxnSpPr>
            <a:cxnSpLocks/>
            <a:stCxn id="16" idx="2"/>
          </p:cNvCxnSpPr>
          <p:nvPr/>
        </p:nvCxnSpPr>
        <p:spPr bwMode="auto">
          <a:xfrm>
            <a:off x="11753507" y="794321"/>
            <a:ext cx="0" cy="2756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6E1B9F01-83BC-4955-9183-E8342C8BD8FC}"/>
              </a:ext>
            </a:extLst>
          </p:cNvPr>
          <p:cNvCxnSpPr>
            <a:cxnSpLocks/>
            <a:stCxn id="25" idx="1"/>
          </p:cNvCxnSpPr>
          <p:nvPr/>
        </p:nvCxnSpPr>
        <p:spPr bwMode="auto">
          <a:xfrm flipH="1">
            <a:off x="4655842" y="898920"/>
            <a:ext cx="2308238" cy="26268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Tekstvak 24">
            <a:extLst>
              <a:ext uri="{FF2B5EF4-FFF2-40B4-BE49-F238E27FC236}">
                <a16:creationId xmlns:a16="http://schemas.microsoft.com/office/drawing/2014/main" id="{49207E8E-5507-4BA8-B027-84031165556D}"/>
              </a:ext>
            </a:extLst>
          </p:cNvPr>
          <p:cNvSpPr txBox="1"/>
          <p:nvPr/>
        </p:nvSpPr>
        <p:spPr>
          <a:xfrm>
            <a:off x="6964080" y="760420"/>
            <a:ext cx="2498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“Pinned” AWS services</a:t>
            </a:r>
          </a:p>
        </p:txBody>
      </p:sp>
    </p:spTree>
    <p:extLst>
      <p:ext uri="{BB962C8B-B14F-4D97-AF65-F5344CB8AC3E}">
        <p14:creationId xmlns:p14="http://schemas.microsoft.com/office/powerpoint/2010/main" val="1207505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Management Console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9E2E03D-E4BB-49D4-8ED4-976EE2B2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C9C218-72EA-418A-9800-0E8848108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709597"/>
            <a:ext cx="6480720" cy="59868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07B0FFA-791D-41FD-803B-989E56D0E281}"/>
              </a:ext>
            </a:extLst>
          </p:cNvPr>
          <p:cNvSpPr/>
          <p:nvPr/>
        </p:nvSpPr>
        <p:spPr bwMode="auto">
          <a:xfrm>
            <a:off x="2567608" y="836712"/>
            <a:ext cx="1223673" cy="792088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Tahoma" pitchFamily="34" charset="0"/>
            </a:endParaRPr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02410835-4604-4625-ABB0-F0988B964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6007" y="1268760"/>
            <a:ext cx="4704689" cy="4751388"/>
          </a:xfrm>
        </p:spPr>
        <p:txBody>
          <a:bodyPr/>
          <a:lstStyle/>
          <a:p>
            <a:r>
              <a:rPr lang="en-US" dirty="0"/>
              <a:t>GUI to create/update/delete primary and secondary AWS services </a:t>
            </a:r>
          </a:p>
          <a:p>
            <a:pPr lvl="1"/>
            <a:r>
              <a:rPr lang="en-US" dirty="0"/>
              <a:t>Primary: e.g. Compute, VPC</a:t>
            </a:r>
          </a:p>
          <a:p>
            <a:pPr lvl="1"/>
            <a:r>
              <a:rPr lang="en-US" dirty="0"/>
              <a:t>Secondary: e.g. Subnet(s)</a:t>
            </a:r>
          </a:p>
          <a:p>
            <a:r>
              <a:rPr lang="en-US" dirty="0"/>
              <a:t>Define relationships between primary and secondary services</a:t>
            </a:r>
          </a:p>
          <a:p>
            <a:r>
              <a:rPr lang="en-US" dirty="0"/>
              <a:t>Service instances are created within a region (e.g. S3, VPC) </a:t>
            </a:r>
            <a:br>
              <a:rPr lang="en-US" dirty="0"/>
            </a:br>
            <a:r>
              <a:rPr lang="en-US" dirty="0"/>
              <a:t>or within and AZ (e.g. compute instance)</a:t>
            </a:r>
          </a:p>
          <a:p>
            <a:r>
              <a:rPr lang="en-US" dirty="0"/>
              <a:t>Requires fine-grained access rights via groups/roles and eventually policies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439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0" y="0"/>
            <a:ext cx="10409765" cy="1041400"/>
          </a:xfrm>
        </p:spPr>
        <p:txBody>
          <a:bodyPr/>
          <a:lstStyle/>
          <a:p>
            <a:r>
              <a:rPr lang="en-US" dirty="0"/>
              <a:t>Practice 2 Exploring AWS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9E2E03D-E4BB-49D4-8ED4-976EE2B2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C9C218-72EA-418A-9800-0E884810880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08421" y="737938"/>
            <a:ext cx="5767939" cy="535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833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A0C64C-E20A-4D77-9960-800990C4DF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32110" y="917477"/>
            <a:ext cx="4236498" cy="4599755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544" y="1165127"/>
            <a:ext cx="8388473" cy="5328591"/>
          </a:xfrm>
        </p:spPr>
        <p:txBody>
          <a:bodyPr/>
          <a:lstStyle/>
          <a:p>
            <a:r>
              <a:rPr lang="en-US" sz="2400" dirty="0"/>
              <a:t>S3 Basics</a:t>
            </a:r>
          </a:p>
          <a:p>
            <a:pPr lvl="1"/>
            <a:r>
              <a:rPr lang="en-US" sz="2400" dirty="0"/>
              <a:t>S3=Simple Storage Service</a:t>
            </a:r>
          </a:p>
          <a:p>
            <a:pPr lvl="1"/>
            <a:r>
              <a:rPr lang="en-US" sz="2400" dirty="0"/>
              <a:t>High durability </a:t>
            </a:r>
            <a:br>
              <a:rPr lang="en-US" sz="2400" dirty="0"/>
            </a:br>
            <a:r>
              <a:rPr lang="en-US" sz="2400" dirty="0"/>
              <a:t>through zone </a:t>
            </a:r>
            <a:br>
              <a:rPr lang="en-US" sz="2400" dirty="0"/>
            </a:br>
            <a:r>
              <a:rPr lang="en-US" sz="2400" dirty="0"/>
              <a:t>replication</a:t>
            </a:r>
          </a:p>
          <a:p>
            <a:pPr lvl="1"/>
            <a:r>
              <a:rPr lang="en-US" sz="2400" dirty="0"/>
              <a:t>Storing objects within buckets </a:t>
            </a:r>
          </a:p>
          <a:p>
            <a:pPr lvl="1"/>
            <a:r>
              <a:rPr lang="en-US" sz="2400" dirty="0"/>
              <a:t>S3 Namespace</a:t>
            </a:r>
          </a:p>
          <a:p>
            <a:pPr lvl="2"/>
            <a:r>
              <a:rPr lang="en-US" sz="2000" dirty="0"/>
              <a:t>Buckets (unique name across users)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pPr lvl="2"/>
            <a:r>
              <a:rPr lang="en-US" sz="2000" dirty="0"/>
              <a:t>Keys (each objects has an unique key)</a:t>
            </a:r>
          </a:p>
          <a:p>
            <a:pPr marL="114300" indent="0">
              <a:buNone/>
            </a:pPr>
            <a:r>
              <a:rPr lang="en-US" sz="1600" dirty="0">
                <a:hlinkClick r:id="rId3"/>
              </a:rPr>
              <a:t>https://kpndemo24102019.s3.eu-central-1.amazonaws.com/KPNdemo.txt</a:t>
            </a: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           |</a:t>
            </a:r>
            <a:r>
              <a:rPr lang="en-US" sz="1600" dirty="0" err="1"/>
              <a:t>Bucketname</a:t>
            </a:r>
            <a:r>
              <a:rPr lang="en-US" sz="1600" dirty="0"/>
              <a:t>          |AZ                  |AWS                 |folder/file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S3 (storage)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B482AE3-EC99-4A26-861F-150E23109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39115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S3 (storage) – cont’d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180" y="1053306"/>
            <a:ext cx="10409765" cy="4751388"/>
          </a:xfrm>
        </p:spPr>
        <p:txBody>
          <a:bodyPr/>
          <a:lstStyle/>
          <a:p>
            <a:r>
              <a:rPr lang="en-US" sz="1800" dirty="0"/>
              <a:t>Other S3 capabilities</a:t>
            </a:r>
          </a:p>
          <a:p>
            <a:pPr lvl="1"/>
            <a:r>
              <a:rPr lang="en-US" sz="1600" dirty="0"/>
              <a:t>Encryption</a:t>
            </a:r>
          </a:p>
          <a:p>
            <a:pPr lvl="1"/>
            <a:r>
              <a:rPr lang="en-US" sz="1600" dirty="0"/>
              <a:t>Server Side Logging</a:t>
            </a:r>
          </a:p>
          <a:p>
            <a:pPr lvl="1"/>
            <a:r>
              <a:rPr lang="en-US" sz="1600" dirty="0"/>
              <a:t>Versioning</a:t>
            </a:r>
          </a:p>
          <a:p>
            <a:pPr lvl="1"/>
            <a:r>
              <a:rPr lang="en-US" sz="1600" dirty="0"/>
              <a:t>Object Lifecycle Management</a:t>
            </a:r>
          </a:p>
          <a:p>
            <a:pPr lvl="1"/>
            <a:r>
              <a:rPr lang="en-US" sz="1600" dirty="0"/>
              <a:t>Pubic/private</a:t>
            </a:r>
          </a:p>
          <a:p>
            <a:r>
              <a:rPr lang="en-US" sz="1800" dirty="0"/>
              <a:t>Storage S3 Classes</a:t>
            </a:r>
          </a:p>
          <a:p>
            <a:pPr lvl="1"/>
            <a:r>
              <a:rPr lang="en-US" sz="1600" dirty="0"/>
              <a:t>S3 Standard</a:t>
            </a:r>
          </a:p>
          <a:p>
            <a:pPr lvl="1"/>
            <a:r>
              <a:rPr lang="en-US" sz="1600" dirty="0"/>
              <a:t>Infrequent Access Storage</a:t>
            </a:r>
          </a:p>
          <a:p>
            <a:pPr lvl="1"/>
            <a:r>
              <a:rPr lang="en-US" sz="1600" dirty="0"/>
              <a:t>Amazon S3 Select</a:t>
            </a:r>
          </a:p>
          <a:p>
            <a:pPr lvl="1"/>
            <a:r>
              <a:rPr lang="en-US" sz="1600" dirty="0"/>
              <a:t>One Zone-Infrequent Access</a:t>
            </a:r>
          </a:p>
          <a:p>
            <a:pPr lvl="1"/>
            <a:r>
              <a:rPr lang="en-US" sz="1600" dirty="0"/>
              <a:t>Amazon Glacier</a:t>
            </a:r>
          </a:p>
          <a:p>
            <a:r>
              <a:rPr lang="en-US" sz="1800" dirty="0"/>
              <a:t>S3 Pricing determined by </a:t>
            </a:r>
          </a:p>
          <a:p>
            <a:pPr lvl="1"/>
            <a:r>
              <a:rPr lang="en-US" sz="1600" dirty="0"/>
              <a:t>Storage itself per class – see above</a:t>
            </a:r>
          </a:p>
          <a:p>
            <a:pPr lvl="1"/>
            <a:r>
              <a:rPr lang="en-US" sz="1600" dirty="0"/>
              <a:t>Class storage differs per region</a:t>
            </a:r>
          </a:p>
          <a:p>
            <a:pPr lvl="1"/>
            <a:r>
              <a:rPr lang="en-US" sz="1600" dirty="0"/>
              <a:t>Request pricing buckets/objects</a:t>
            </a:r>
          </a:p>
          <a:p>
            <a:pPr lvl="1"/>
            <a:r>
              <a:rPr lang="en-US" sz="1600" dirty="0"/>
              <a:t>Data Transfer Pricing (outgoing)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9C9B4-E990-4D4C-8C9D-F464783B515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FAD137F-18E2-478C-9BB9-F95852BD9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2018, Darwin IT-Professionals B.V.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6975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AWS S3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C9F5BD67-2FF0-4518-9F23-5F6AD333C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5" y="1069144"/>
            <a:ext cx="9975807" cy="4448087"/>
          </a:xfrm>
          <a:prstGeom prst="rect">
            <a:avLst/>
          </a:prstGeom>
        </p:spPr>
      </p:pic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F873C77-7658-405D-9A4C-6404891FC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Copyright 2018, Darwin IT-Professionals B.V.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2054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0" y="0"/>
            <a:ext cx="10409765" cy="1041400"/>
          </a:xfrm>
        </p:spPr>
        <p:txBody>
          <a:bodyPr/>
          <a:lstStyle/>
          <a:p>
            <a:r>
              <a:rPr lang="en-US" dirty="0"/>
              <a:t>Practice 3 S3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9E2E03D-E4BB-49D4-8ED4-976EE2B2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985E1-CF58-45F9-9D0B-CF02F962BE7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15640" y="1172845"/>
            <a:ext cx="5760720" cy="451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63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Regions &amp; Availability Zones (AZ)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9C9B4-E990-4D4C-8C9D-F464783B515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7B85C2B-C0E9-4C4F-A2DA-5BB695FDF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2018, Darwin IT-Professionals B.V.</a:t>
            </a:r>
            <a:endParaRPr lang="nl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9974B6-0C6B-4B68-8794-9E28D469E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1058974"/>
            <a:ext cx="5715495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4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467624"/>
            <a:ext cx="2844800" cy="215900"/>
          </a:xfrm>
        </p:spPr>
        <p:txBody>
          <a:bodyPr/>
          <a:lstStyle/>
          <a:p>
            <a:fld id="{6EF9C9B4-E990-4D4C-8C9D-F464783B515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AC15CB-B4FE-4681-AFD9-2B7BAF7A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5217" y="6453336"/>
            <a:ext cx="5761567" cy="261938"/>
          </a:xfrm>
        </p:spPr>
        <p:txBody>
          <a:bodyPr/>
          <a:lstStyle/>
          <a:p>
            <a:r>
              <a:rPr lang="en-US" dirty="0"/>
              <a:t>© Copyright 2019, Darwin IT-Professionals B.V.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" y="-831158"/>
            <a:ext cx="10972800" cy="715963"/>
          </a:xfrm>
        </p:spPr>
        <p:txBody>
          <a:bodyPr/>
          <a:lstStyle/>
          <a:p>
            <a:r>
              <a:rPr lang="en-US" dirty="0"/>
              <a:t>Production Network Topology</a:t>
            </a:r>
          </a:p>
        </p:txBody>
      </p:sp>
      <p:sp>
        <p:nvSpPr>
          <p:cNvPr id="59" name="Titel 1">
            <a:extLst>
              <a:ext uri="{FF2B5EF4-FFF2-40B4-BE49-F238E27FC236}">
                <a16:creationId xmlns:a16="http://schemas.microsoft.com/office/drawing/2014/main" id="{F91DBF24-DC97-454E-ADBC-C8DB7D8AB988}"/>
              </a:ext>
            </a:extLst>
          </p:cNvPr>
          <p:cNvSpPr txBox="1">
            <a:spLocks/>
          </p:cNvSpPr>
          <p:nvPr/>
        </p:nvSpPr>
        <p:spPr bwMode="auto">
          <a:xfrm>
            <a:off x="1593853" y="0"/>
            <a:ext cx="6375546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pPr defTabSz="914400"/>
            <a:r>
              <a:rPr lang="en-US" sz="3200" kern="0" dirty="0"/>
              <a:t>AWS VPC Fundament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94D795-D2D2-4DD7-9E2F-1F05B37A8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677" y="980728"/>
            <a:ext cx="5616427" cy="4976291"/>
          </a:xfrm>
          <a:prstGeom prst="rect">
            <a:avLst/>
          </a:prstGeom>
        </p:spPr>
      </p:pic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88556EB2-6D0B-4311-94FF-75F64C49B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2625" y="1125538"/>
            <a:ext cx="5040039" cy="4751387"/>
          </a:xfrm>
        </p:spPr>
        <p:txBody>
          <a:bodyPr/>
          <a:lstStyle/>
          <a:p>
            <a:r>
              <a:rPr lang="en-US" sz="2400" dirty="0"/>
              <a:t>AWS</a:t>
            </a:r>
          </a:p>
          <a:p>
            <a:pPr lvl="1"/>
            <a:r>
              <a:rPr lang="en-US" sz="2200" dirty="0"/>
              <a:t>Region(s)</a:t>
            </a:r>
          </a:p>
          <a:p>
            <a:pPr lvl="2"/>
            <a:r>
              <a:rPr lang="en-US" sz="2000" dirty="0"/>
              <a:t>VPC (within a Region)</a:t>
            </a:r>
          </a:p>
          <a:p>
            <a:pPr lvl="3"/>
            <a:r>
              <a:rPr lang="en-US" sz="2000" dirty="0"/>
              <a:t>CIDR: </a:t>
            </a:r>
            <a:r>
              <a:rPr lang="en-US" dirty="0"/>
              <a:t>10.0.0.0/16</a:t>
            </a:r>
            <a:endParaRPr lang="en-US" sz="2000" dirty="0"/>
          </a:p>
          <a:p>
            <a:pPr lvl="3"/>
            <a:r>
              <a:rPr lang="en-US" sz="2000" dirty="0"/>
              <a:t>Zones</a:t>
            </a:r>
          </a:p>
          <a:p>
            <a:pPr lvl="4"/>
            <a:r>
              <a:rPr lang="en-US" sz="2000" dirty="0"/>
              <a:t>Public Subnet</a:t>
            </a:r>
          </a:p>
          <a:p>
            <a:pPr lvl="5"/>
            <a:r>
              <a:rPr lang="en-US" sz="1800" dirty="0"/>
              <a:t>CIDR: 10.0.0.0/24</a:t>
            </a:r>
          </a:p>
          <a:p>
            <a:pPr lvl="4"/>
            <a:r>
              <a:rPr lang="en-US" sz="2000" dirty="0"/>
              <a:t>Private Subnet</a:t>
            </a:r>
          </a:p>
          <a:p>
            <a:pPr lvl="5"/>
            <a:r>
              <a:rPr lang="en-US" sz="1800" dirty="0"/>
              <a:t>CIDR: 10.0.1.0/24</a:t>
            </a:r>
          </a:p>
          <a:p>
            <a:pPr lvl="5"/>
            <a:r>
              <a:rPr lang="en-US" sz="1800" dirty="0"/>
              <a:t>CIDR: 10.0.2.0/24</a:t>
            </a:r>
          </a:p>
          <a:p>
            <a:pPr lvl="5"/>
            <a:r>
              <a:rPr lang="en-US" sz="1800" dirty="0"/>
              <a:t>CIDR: 10.0.3.0/24</a:t>
            </a:r>
          </a:p>
          <a:p>
            <a:pPr lvl="5"/>
            <a:r>
              <a:rPr lang="en-US" sz="1800" dirty="0"/>
              <a:t>CIDR: 10.0.4.0/24</a:t>
            </a:r>
          </a:p>
          <a:p>
            <a:pPr lvl="5"/>
            <a:endParaRPr lang="en-US" sz="1800" dirty="0"/>
          </a:p>
          <a:p>
            <a:pPr lvl="5"/>
            <a:endParaRPr lang="en-US" sz="1800" dirty="0"/>
          </a:p>
          <a:p>
            <a:pPr lvl="5"/>
            <a:endParaRPr lang="en-US" sz="1800" dirty="0"/>
          </a:p>
          <a:p>
            <a:pPr lvl="5"/>
            <a:endParaRPr lang="en-US" sz="2400" dirty="0"/>
          </a:p>
          <a:p>
            <a:pPr lvl="4"/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79097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467624"/>
            <a:ext cx="2844800" cy="215900"/>
          </a:xfrm>
        </p:spPr>
        <p:txBody>
          <a:bodyPr/>
          <a:lstStyle/>
          <a:p>
            <a:fld id="{6EF9C9B4-E990-4D4C-8C9D-F464783B515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AC15CB-B4FE-4681-AFD9-2B7BAF7A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5217" y="6453336"/>
            <a:ext cx="5761567" cy="261938"/>
          </a:xfrm>
        </p:spPr>
        <p:txBody>
          <a:bodyPr/>
          <a:lstStyle/>
          <a:p>
            <a:r>
              <a:rPr lang="en-US" dirty="0"/>
              <a:t>© Copyright 2019, Darwin IT-Professionals B.V.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" y="-831158"/>
            <a:ext cx="10972800" cy="715963"/>
          </a:xfrm>
        </p:spPr>
        <p:txBody>
          <a:bodyPr/>
          <a:lstStyle/>
          <a:p>
            <a:r>
              <a:rPr lang="en-US" dirty="0"/>
              <a:t>Production Network Topology</a:t>
            </a:r>
          </a:p>
        </p:txBody>
      </p:sp>
      <p:sp>
        <p:nvSpPr>
          <p:cNvPr id="59" name="Titel 1">
            <a:extLst>
              <a:ext uri="{FF2B5EF4-FFF2-40B4-BE49-F238E27FC236}">
                <a16:creationId xmlns:a16="http://schemas.microsoft.com/office/drawing/2014/main" id="{F91DBF24-DC97-454E-ADBC-C8DB7D8AB988}"/>
              </a:ext>
            </a:extLst>
          </p:cNvPr>
          <p:cNvSpPr txBox="1">
            <a:spLocks/>
          </p:cNvSpPr>
          <p:nvPr/>
        </p:nvSpPr>
        <p:spPr bwMode="auto">
          <a:xfrm>
            <a:off x="1593853" y="0"/>
            <a:ext cx="6375546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pPr defTabSz="914400"/>
            <a:r>
              <a:rPr lang="en-US" sz="3200" kern="0" dirty="0"/>
              <a:t>AWS VPC IGW &amp; NAT</a:t>
            </a:r>
          </a:p>
        </p:txBody>
      </p:sp>
      <p:sp>
        <p:nvSpPr>
          <p:cNvPr id="39" name="Tijdelijke aanduiding voor inhoud 2">
            <a:extLst>
              <a:ext uri="{FF2B5EF4-FFF2-40B4-BE49-F238E27FC236}">
                <a16:creationId xmlns:a16="http://schemas.microsoft.com/office/drawing/2014/main" id="{28B4D980-2744-42F1-9B90-69838E13D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2104" y="1125884"/>
            <a:ext cx="5400600" cy="4751388"/>
          </a:xfrm>
        </p:spPr>
        <p:txBody>
          <a:bodyPr/>
          <a:lstStyle/>
          <a:p>
            <a:r>
              <a:rPr lang="en-US" dirty="0"/>
              <a:t>IGW: Internet Gateway</a:t>
            </a:r>
          </a:p>
          <a:p>
            <a:pPr lvl="1"/>
            <a:r>
              <a:rPr lang="en-US" dirty="0"/>
              <a:t>Only one per VPC</a:t>
            </a:r>
          </a:p>
          <a:p>
            <a:pPr lvl="1"/>
            <a:r>
              <a:rPr lang="en-US" dirty="0"/>
              <a:t>Referenced </a:t>
            </a:r>
            <a:br>
              <a:rPr lang="en-US" dirty="0"/>
            </a:br>
            <a:r>
              <a:rPr lang="en-US" dirty="0"/>
              <a:t>in a Route table</a:t>
            </a:r>
          </a:p>
          <a:p>
            <a:pPr lvl="1"/>
            <a:r>
              <a:rPr lang="en-US" dirty="0"/>
              <a:t>Route table is associated </a:t>
            </a:r>
            <a:br>
              <a:rPr lang="en-US" dirty="0"/>
            </a:br>
            <a:r>
              <a:rPr lang="en-US" dirty="0"/>
              <a:t>with a Public Subnet</a:t>
            </a:r>
          </a:p>
          <a:p>
            <a:pPr lvl="1"/>
            <a:r>
              <a:rPr lang="en-US" dirty="0"/>
              <a:t>Allows outgoing/incoming internet traffic</a:t>
            </a:r>
            <a:endParaRPr lang="en-US" sz="2000" dirty="0"/>
          </a:p>
          <a:p>
            <a:r>
              <a:rPr lang="en-US" dirty="0"/>
              <a:t>NAT: Network Access Table</a:t>
            </a:r>
          </a:p>
          <a:p>
            <a:pPr lvl="2"/>
            <a:r>
              <a:rPr lang="en-US" sz="1800" dirty="0"/>
              <a:t>Associated with a Public Subnet</a:t>
            </a:r>
          </a:p>
          <a:p>
            <a:pPr lvl="2"/>
            <a:r>
              <a:rPr lang="en-US" sz="1800" dirty="0"/>
              <a:t>Referenced in a Route table</a:t>
            </a:r>
          </a:p>
          <a:p>
            <a:pPr lvl="2"/>
            <a:r>
              <a:rPr lang="en-US" sz="1800" dirty="0"/>
              <a:t>Route table is associated </a:t>
            </a:r>
            <a:br>
              <a:rPr lang="en-US" sz="1800" dirty="0"/>
            </a:br>
            <a:r>
              <a:rPr lang="en-US" sz="1800" dirty="0"/>
              <a:t>with a Private Subnet</a:t>
            </a:r>
          </a:p>
          <a:p>
            <a:pPr lvl="2"/>
            <a:r>
              <a:rPr lang="en-US" sz="1800" dirty="0"/>
              <a:t>Allows outgoing internet traffic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0A7C20-0C2F-413A-A922-EFF5CF12D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80" y="764704"/>
            <a:ext cx="5829805" cy="505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40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467624"/>
            <a:ext cx="2844800" cy="215900"/>
          </a:xfrm>
        </p:spPr>
        <p:txBody>
          <a:bodyPr/>
          <a:lstStyle/>
          <a:p>
            <a:fld id="{6EF9C9B4-E990-4D4C-8C9D-F464783B515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AC15CB-B4FE-4681-AFD9-2B7BAF7A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5217" y="6453336"/>
            <a:ext cx="5761567" cy="261938"/>
          </a:xfrm>
        </p:spPr>
        <p:txBody>
          <a:bodyPr/>
          <a:lstStyle/>
          <a:p>
            <a:r>
              <a:rPr lang="en-US" dirty="0"/>
              <a:t>© Copyright 2019, Darwin IT-Professionals B.V.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" y="-831158"/>
            <a:ext cx="10972800" cy="715963"/>
          </a:xfrm>
        </p:spPr>
        <p:txBody>
          <a:bodyPr/>
          <a:lstStyle/>
          <a:p>
            <a:r>
              <a:rPr lang="en-US" dirty="0"/>
              <a:t>Production Network Topology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BEC189-3CFD-4585-B051-8221442D9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05" y="782622"/>
            <a:ext cx="6375546" cy="6075378"/>
          </a:xfrm>
          <a:prstGeom prst="rect">
            <a:avLst/>
          </a:prstGeom>
        </p:spPr>
      </p:pic>
      <p:sp>
        <p:nvSpPr>
          <p:cNvPr id="59" name="Titel 1">
            <a:extLst>
              <a:ext uri="{FF2B5EF4-FFF2-40B4-BE49-F238E27FC236}">
                <a16:creationId xmlns:a16="http://schemas.microsoft.com/office/drawing/2014/main" id="{F91DBF24-DC97-454E-ADBC-C8DB7D8AB988}"/>
              </a:ext>
            </a:extLst>
          </p:cNvPr>
          <p:cNvSpPr txBox="1">
            <a:spLocks/>
          </p:cNvSpPr>
          <p:nvPr/>
        </p:nvSpPr>
        <p:spPr bwMode="auto">
          <a:xfrm>
            <a:off x="1593853" y="0"/>
            <a:ext cx="6375546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pPr defTabSz="914400"/>
            <a:r>
              <a:rPr lang="en-US" sz="3200" kern="0" dirty="0"/>
              <a:t>AWS VPC building blocks</a:t>
            </a:r>
          </a:p>
        </p:txBody>
      </p:sp>
      <p:sp>
        <p:nvSpPr>
          <p:cNvPr id="39" name="Tijdelijke aanduiding voor inhoud 2">
            <a:extLst>
              <a:ext uri="{FF2B5EF4-FFF2-40B4-BE49-F238E27FC236}">
                <a16:creationId xmlns:a16="http://schemas.microsoft.com/office/drawing/2014/main" id="{28B4D980-2744-42F1-9B90-69838E13D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2184" y="1340768"/>
            <a:ext cx="4439816" cy="4751388"/>
          </a:xfrm>
        </p:spPr>
        <p:txBody>
          <a:bodyPr/>
          <a:lstStyle/>
          <a:p>
            <a:r>
              <a:rPr lang="en-US" sz="2400" dirty="0"/>
              <a:t>VPC</a:t>
            </a:r>
          </a:p>
          <a:p>
            <a:pPr lvl="1"/>
            <a:r>
              <a:rPr lang="en-US" sz="2400" dirty="0"/>
              <a:t>Security Groups</a:t>
            </a:r>
          </a:p>
          <a:p>
            <a:pPr lvl="2"/>
            <a:r>
              <a:rPr lang="en-US" sz="2000" dirty="0"/>
              <a:t>Inbound/outbound</a:t>
            </a:r>
            <a:br>
              <a:rPr lang="en-US" sz="2000" dirty="0"/>
            </a:br>
            <a:r>
              <a:rPr lang="en-US" sz="2000" dirty="0"/>
              <a:t>rules</a:t>
            </a:r>
          </a:p>
          <a:p>
            <a:pPr lvl="2"/>
            <a:r>
              <a:rPr lang="en-US" sz="2000" dirty="0"/>
              <a:t>To be associated with </a:t>
            </a:r>
            <a:br>
              <a:rPr lang="en-US" sz="2000" dirty="0"/>
            </a:br>
            <a:r>
              <a:rPr lang="en-US" sz="2000" dirty="0"/>
              <a:t>instances</a:t>
            </a:r>
          </a:p>
          <a:p>
            <a:pPr lvl="1"/>
            <a:r>
              <a:rPr lang="en-US" sz="2400" dirty="0"/>
              <a:t>Availability Zones</a:t>
            </a:r>
          </a:p>
          <a:p>
            <a:pPr lvl="2"/>
            <a:r>
              <a:rPr lang="en-US" sz="2000" dirty="0"/>
              <a:t>Public/Private Subnet</a:t>
            </a:r>
          </a:p>
          <a:p>
            <a:pPr lvl="3"/>
            <a:r>
              <a:rPr lang="en-US" sz="2000" dirty="0"/>
              <a:t>Route tables</a:t>
            </a:r>
          </a:p>
          <a:p>
            <a:pPr lvl="4"/>
            <a:r>
              <a:rPr lang="en-US" sz="2000" dirty="0"/>
              <a:t>IGW usage</a:t>
            </a:r>
          </a:p>
          <a:p>
            <a:pPr lvl="4"/>
            <a:r>
              <a:rPr lang="en-US" sz="2000" dirty="0"/>
              <a:t>NAT usage</a:t>
            </a:r>
          </a:p>
          <a:p>
            <a:pPr lvl="3"/>
            <a:r>
              <a:rPr lang="en-US" sz="2000" dirty="0"/>
              <a:t>Compute Instances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876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235" y="0"/>
            <a:ext cx="10409765" cy="1041400"/>
          </a:xfrm>
        </p:spPr>
        <p:txBody>
          <a:bodyPr/>
          <a:lstStyle/>
          <a:p>
            <a:r>
              <a:rPr lang="en-US" dirty="0">
                <a:hlinkClick r:id="rId3"/>
              </a:rPr>
              <a:t>Draw.io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9E2E03D-E4BB-49D4-8ED4-976EE2B2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03FCE771-E173-4E64-B035-8F7D0E326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2173" y="836712"/>
            <a:ext cx="4700644" cy="4751388"/>
          </a:xfrm>
        </p:spPr>
        <p:txBody>
          <a:bodyPr/>
          <a:lstStyle/>
          <a:p>
            <a:r>
              <a:rPr lang="en-US" dirty="0"/>
              <a:t>“Visio” in a browser – also available as a Windows client</a:t>
            </a:r>
          </a:p>
          <a:p>
            <a:r>
              <a:rPr lang="en-US" dirty="0"/>
              <a:t>Latest version 12.3.9</a:t>
            </a:r>
          </a:p>
          <a:p>
            <a:r>
              <a:rPr lang="en-US" dirty="0"/>
              <a:t>Powered by </a:t>
            </a:r>
            <a:r>
              <a:rPr lang="en-US" dirty="0" err="1"/>
              <a:t>JGraph</a:t>
            </a:r>
            <a:endParaRPr lang="en-US" dirty="0"/>
          </a:p>
          <a:p>
            <a:r>
              <a:rPr lang="en-US" dirty="0"/>
              <a:t>Requires a Google Account (Browser version)</a:t>
            </a:r>
          </a:p>
          <a:p>
            <a:r>
              <a:rPr lang="en-US" dirty="0"/>
              <a:t>Huge library of AWS icons (but also Azure, GCP)</a:t>
            </a:r>
          </a:p>
          <a:p>
            <a:r>
              <a:rPr lang="en-US" dirty="0"/>
              <a:t>Widely used to visualize the dependencies between AWS resources</a:t>
            </a:r>
          </a:p>
          <a:p>
            <a:r>
              <a:rPr lang="en-US" dirty="0"/>
              <a:t>AFAIK no reversed engineering tool that creates a AWS resources design/visualization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924CC4-CC58-41E4-8B82-0429BE14C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235" y="841296"/>
            <a:ext cx="5409458" cy="386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37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235" y="0"/>
            <a:ext cx="10409765" cy="1041400"/>
          </a:xfrm>
        </p:spPr>
        <p:txBody>
          <a:bodyPr/>
          <a:lstStyle/>
          <a:p>
            <a:r>
              <a:rPr lang="en-US" dirty="0"/>
              <a:t>Practice 4 AWS Resources Diagram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9E2E03D-E4BB-49D4-8ED4-976EE2B2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DA8E8-CCB2-40F3-92CE-CF89C753001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15639" y="1280477"/>
            <a:ext cx="5892377" cy="438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986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0" y="0"/>
            <a:ext cx="10409765" cy="1041400"/>
          </a:xfrm>
        </p:spPr>
        <p:txBody>
          <a:bodyPr/>
          <a:lstStyle/>
          <a:p>
            <a:r>
              <a:rPr lang="en-US" dirty="0"/>
              <a:t>Practice 5 VPC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9E2E03D-E4BB-49D4-8ED4-976EE2B2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4D795-D2D2-4DD7-9E2F-1F05B37A8F5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88030" y="941070"/>
            <a:ext cx="5615940" cy="497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4610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439C1F2D-F000-4B3F-86C6-03AB13E673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89" y="4130938"/>
            <a:ext cx="3635421" cy="217838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EC2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2063" y="909860"/>
            <a:ext cx="7994650" cy="4751388"/>
          </a:xfrm>
        </p:spPr>
        <p:txBody>
          <a:bodyPr/>
          <a:lstStyle/>
          <a:p>
            <a:r>
              <a:rPr lang="en-US" dirty="0"/>
              <a:t>Basic Architecture of EC2 (Elastic Compute Generation 2)</a:t>
            </a:r>
          </a:p>
          <a:p>
            <a:pPr lvl="1"/>
            <a:r>
              <a:rPr lang="en-US" dirty="0"/>
              <a:t>Huge farm of virtual servers hosted in wide variety of DC’s</a:t>
            </a:r>
          </a:p>
          <a:p>
            <a:pPr lvl="1"/>
            <a:r>
              <a:rPr lang="en-US" dirty="0"/>
              <a:t>Client can request a (virtual) compute instance via webservice with variable</a:t>
            </a:r>
          </a:p>
          <a:p>
            <a:pPr lvl="2"/>
            <a:r>
              <a:rPr lang="en-US" dirty="0"/>
              <a:t>RAM Size</a:t>
            </a:r>
          </a:p>
          <a:p>
            <a:pPr lvl="2"/>
            <a:r>
              <a:rPr lang="en-US" dirty="0"/>
              <a:t>CPU</a:t>
            </a:r>
          </a:p>
          <a:p>
            <a:pPr lvl="2"/>
            <a:r>
              <a:rPr lang="en-US" dirty="0"/>
              <a:t>OS Flavor (e.g. Linux, Windows, Solaris)</a:t>
            </a:r>
          </a:p>
          <a:p>
            <a:r>
              <a:rPr lang="en-US" dirty="0"/>
              <a:t>Virtualization as underlying technology</a:t>
            </a:r>
          </a:p>
          <a:p>
            <a:pPr lvl="1"/>
            <a:r>
              <a:rPr lang="en-US" dirty="0"/>
              <a:t>Reduce hardware costs</a:t>
            </a:r>
          </a:p>
          <a:p>
            <a:pPr lvl="1"/>
            <a:r>
              <a:rPr lang="en-US" dirty="0"/>
              <a:t>Simplification of IT operations</a:t>
            </a:r>
          </a:p>
          <a:p>
            <a:pPr lvl="1"/>
            <a:r>
              <a:rPr lang="en-US" dirty="0"/>
              <a:t>(much) faster provisioning</a:t>
            </a:r>
          </a:p>
          <a:p>
            <a:pPr lvl="1"/>
            <a:r>
              <a:rPr lang="en-US" dirty="0"/>
              <a:t>Provides more flexibility </a:t>
            </a:r>
          </a:p>
          <a:p>
            <a:pPr lvl="1"/>
            <a:r>
              <a:rPr lang="en-US" dirty="0"/>
              <a:t>Lower costs</a:t>
            </a:r>
          </a:p>
          <a:p>
            <a:pPr lvl="1"/>
            <a:r>
              <a:rPr lang="en-US" dirty="0"/>
              <a:t>Enhanced security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25CC2F-ABD4-4D32-B10A-0EE5B0E4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Copyright 2018, Darwin IT-Professionals B.V.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6432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EC2 – cont’d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EC2 Instance types (or shapes)</a:t>
            </a:r>
          </a:p>
          <a:p>
            <a:pPr lvl="1"/>
            <a:r>
              <a:rPr lang="en-US" dirty="0"/>
              <a:t>Standard</a:t>
            </a:r>
          </a:p>
          <a:p>
            <a:pPr lvl="1"/>
            <a:r>
              <a:rPr lang="en-US" dirty="0"/>
              <a:t>Micro ( to support microservices)</a:t>
            </a:r>
          </a:p>
          <a:p>
            <a:pPr lvl="1"/>
            <a:r>
              <a:rPr lang="en-US" dirty="0"/>
              <a:t>High CPU versus High Memory</a:t>
            </a:r>
          </a:p>
          <a:p>
            <a:pPr lvl="1"/>
            <a:r>
              <a:rPr lang="en-US" dirty="0"/>
              <a:t>Cluster Compute (High Performance network-bound applications) </a:t>
            </a:r>
          </a:p>
          <a:p>
            <a:pPr lvl="1"/>
            <a:r>
              <a:rPr lang="en-US" dirty="0"/>
              <a:t>Cluster GPU (same as Cluster Compute plus high rendering power)</a:t>
            </a:r>
          </a:p>
          <a:p>
            <a:r>
              <a:rPr lang="en-US" dirty="0"/>
              <a:t>Amazon Machine Image (AMI)</a:t>
            </a:r>
          </a:p>
          <a:p>
            <a:pPr lvl="1"/>
            <a:r>
              <a:rPr lang="en-US" dirty="0"/>
              <a:t>Virtual Machine with a given OS and many applications</a:t>
            </a:r>
          </a:p>
          <a:p>
            <a:pPr lvl="2"/>
            <a:r>
              <a:rPr lang="en-US" dirty="0"/>
              <a:t>Oracle Database on Oracle Linux</a:t>
            </a:r>
          </a:p>
          <a:p>
            <a:pPr lvl="2"/>
            <a:r>
              <a:rPr lang="en-US" dirty="0"/>
              <a:t>Apache Server on Ubuntu</a:t>
            </a:r>
          </a:p>
          <a:p>
            <a:pPr lvl="1"/>
            <a:r>
              <a:rPr lang="en-US" dirty="0"/>
              <a:t>Public versus private AMI’s</a:t>
            </a:r>
          </a:p>
          <a:p>
            <a:pPr lvl="1"/>
            <a:r>
              <a:rPr lang="en-US" dirty="0"/>
              <a:t>AWS (hardened/managed) AMI images (minimize security leaks)</a:t>
            </a:r>
          </a:p>
          <a:p>
            <a:pPr lvl="1"/>
            <a:r>
              <a:rPr lang="en-US" dirty="0"/>
              <a:t>Similar to pre-build appliances build with Virtual Boxes but tied to AWS</a:t>
            </a:r>
          </a:p>
          <a:p>
            <a:pPr lvl="1"/>
            <a:r>
              <a:rPr lang="en-US" dirty="0"/>
              <a:t>Becoming less popular by the popularity of Docker?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9C9B4-E990-4D4C-8C9D-F464783B5150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3969477-4CE2-4C95-838C-255B2E392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2018, Darwin IT-Professionals B.V.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9367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7E6CB8D-5491-4603-A7C2-7B0F0AD76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48" y="757776"/>
            <a:ext cx="6422430" cy="540752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Compute Instances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9E2E03D-E4BB-49D4-8ED4-976EE2B2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FA1A92E1-ABB8-46CF-8AC9-EAA0CC1BF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8128" y="980728"/>
            <a:ext cx="4704689" cy="4751388"/>
          </a:xfrm>
        </p:spPr>
        <p:txBody>
          <a:bodyPr/>
          <a:lstStyle/>
          <a:p>
            <a:r>
              <a:rPr lang="en-US" dirty="0"/>
              <a:t>Based on a AMI </a:t>
            </a:r>
            <a:br>
              <a:rPr lang="en-US" dirty="0"/>
            </a:br>
            <a:r>
              <a:rPr lang="en-US" dirty="0"/>
              <a:t>(Amazon Machine Image)</a:t>
            </a:r>
          </a:p>
          <a:p>
            <a:r>
              <a:rPr lang="en-US" dirty="0"/>
              <a:t>Choose shape </a:t>
            </a:r>
            <a:br>
              <a:rPr lang="en-US" dirty="0"/>
            </a:br>
            <a:r>
              <a:rPr lang="en-US" dirty="0"/>
              <a:t>(CPU, memory, Diskspace)</a:t>
            </a:r>
          </a:p>
          <a:p>
            <a:r>
              <a:rPr lang="en-US" dirty="0"/>
              <a:t>OS (e.g. Linux, Windows)</a:t>
            </a:r>
          </a:p>
          <a:p>
            <a:r>
              <a:rPr lang="en-US" dirty="0"/>
              <a:t>Must be created within a (private/public) subnet</a:t>
            </a:r>
          </a:p>
          <a:p>
            <a:r>
              <a:rPr lang="en-US" dirty="0"/>
              <a:t>Requires a public/private key</a:t>
            </a:r>
          </a:p>
          <a:p>
            <a:r>
              <a:rPr lang="en-US" dirty="0"/>
              <a:t>Must be associated with a </a:t>
            </a:r>
            <a:br>
              <a:rPr lang="en-US" dirty="0"/>
            </a:br>
            <a:r>
              <a:rPr lang="en-US" dirty="0"/>
              <a:t>security group</a:t>
            </a:r>
          </a:p>
          <a:p>
            <a:r>
              <a:rPr lang="en-US" dirty="0"/>
              <a:t>Receives its private IP from the associated subnet (CIDR)</a:t>
            </a:r>
          </a:p>
          <a:p>
            <a:r>
              <a:rPr lang="en-US" dirty="0"/>
              <a:t>Can receive a public IP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54509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AWS EC2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F873C77-7658-405D-9A4C-6404891FC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Copyright 2018, Darwin IT-Professionals B.V.</a:t>
            </a:r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91D9508-2ADA-4F9D-A246-F318C8AB5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900" y="1041400"/>
            <a:ext cx="10274285" cy="424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93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467624"/>
            <a:ext cx="2844800" cy="215900"/>
          </a:xfrm>
        </p:spPr>
        <p:txBody>
          <a:bodyPr/>
          <a:lstStyle/>
          <a:p>
            <a:fld id="{6EF9C9B4-E990-4D4C-8C9D-F464783B515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AC15CB-B4FE-4681-AFD9-2B7BAF7A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5217" y="6453336"/>
            <a:ext cx="5761567" cy="261938"/>
          </a:xfrm>
        </p:spPr>
        <p:txBody>
          <a:bodyPr/>
          <a:lstStyle/>
          <a:p>
            <a:r>
              <a:rPr lang="en-US" dirty="0"/>
              <a:t>© Copyright 2019, Darwin IT-Professionals B.V.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" y="-831158"/>
            <a:ext cx="10972800" cy="715963"/>
          </a:xfrm>
        </p:spPr>
        <p:txBody>
          <a:bodyPr/>
          <a:lstStyle/>
          <a:p>
            <a:r>
              <a:rPr lang="en-US" dirty="0"/>
              <a:t>Production Network Topology</a:t>
            </a:r>
          </a:p>
        </p:txBody>
      </p:sp>
      <p:sp>
        <p:nvSpPr>
          <p:cNvPr id="39" name="Tijdelijke aanduiding voor inhoud 2">
            <a:extLst>
              <a:ext uri="{FF2B5EF4-FFF2-40B4-BE49-F238E27FC236}">
                <a16:creationId xmlns:a16="http://schemas.microsoft.com/office/drawing/2014/main" id="{28B4D980-2744-42F1-9B90-69838E13D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2144" y="1280400"/>
            <a:ext cx="5400600" cy="4751388"/>
          </a:xfrm>
        </p:spPr>
        <p:txBody>
          <a:bodyPr/>
          <a:lstStyle/>
          <a:p>
            <a:r>
              <a:rPr lang="en-US" dirty="0"/>
              <a:t>Must be created within Public </a:t>
            </a:r>
            <a:br>
              <a:rPr lang="en-US" dirty="0"/>
            </a:br>
            <a:r>
              <a:rPr lang="en-US" dirty="0"/>
              <a:t>Subnet</a:t>
            </a:r>
          </a:p>
          <a:p>
            <a:r>
              <a:rPr lang="en-US" dirty="0"/>
              <a:t>Bastion host requires a Public IP </a:t>
            </a:r>
          </a:p>
          <a:p>
            <a:r>
              <a:rPr lang="en-US" sz="2000" dirty="0"/>
              <a:t>Choose your favorite OS</a:t>
            </a:r>
          </a:p>
          <a:p>
            <a:r>
              <a:rPr lang="en-US" dirty="0"/>
              <a:t>Usage of Windows tooling via</a:t>
            </a:r>
            <a:br>
              <a:rPr lang="en-US" dirty="0"/>
            </a:br>
            <a:r>
              <a:rPr lang="en-US" dirty="0"/>
              <a:t>tunneling</a:t>
            </a:r>
          </a:p>
          <a:p>
            <a:r>
              <a:rPr lang="en-US" sz="2000" dirty="0"/>
              <a:t>Inbound/outbound internet </a:t>
            </a:r>
            <a:br>
              <a:rPr lang="en-US" sz="2000" dirty="0"/>
            </a:br>
            <a:r>
              <a:rPr lang="en-US" sz="2000" dirty="0"/>
              <a:t>through the IGW association</a:t>
            </a:r>
          </a:p>
          <a:p>
            <a:r>
              <a:rPr lang="en-US" sz="2000" dirty="0"/>
              <a:t>AS access (SSH) </a:t>
            </a:r>
            <a:r>
              <a:rPr lang="en-US" dirty="0"/>
              <a:t>via </a:t>
            </a:r>
            <a:br>
              <a:rPr lang="en-US" dirty="0"/>
            </a:br>
            <a:r>
              <a:rPr lang="en-US" dirty="0"/>
              <a:t>AS security group</a:t>
            </a:r>
          </a:p>
          <a:p>
            <a:r>
              <a:rPr lang="en-US" sz="2000" dirty="0" err="1"/>
              <a:t>Mysql</a:t>
            </a:r>
            <a:r>
              <a:rPr lang="en-US" sz="2000" dirty="0"/>
              <a:t> access </a:t>
            </a:r>
            <a:r>
              <a:rPr lang="en-US" dirty="0"/>
              <a:t>via </a:t>
            </a:r>
            <a:br>
              <a:rPr lang="en-US" dirty="0"/>
            </a:br>
            <a:r>
              <a:rPr lang="en-US" dirty="0"/>
              <a:t>RDS security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4D601D-ABCE-4DE1-9367-792D1150F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75" y="692696"/>
            <a:ext cx="5654530" cy="5631668"/>
          </a:xfrm>
          <a:prstGeom prst="rect">
            <a:avLst/>
          </a:prstGeom>
        </p:spPr>
      </p:pic>
      <p:sp>
        <p:nvSpPr>
          <p:cNvPr id="59" name="Titel 1">
            <a:extLst>
              <a:ext uri="{FF2B5EF4-FFF2-40B4-BE49-F238E27FC236}">
                <a16:creationId xmlns:a16="http://schemas.microsoft.com/office/drawing/2014/main" id="{F91DBF24-DC97-454E-ADBC-C8DB7D8AB988}"/>
              </a:ext>
            </a:extLst>
          </p:cNvPr>
          <p:cNvSpPr txBox="1">
            <a:spLocks/>
          </p:cNvSpPr>
          <p:nvPr/>
        </p:nvSpPr>
        <p:spPr bwMode="auto">
          <a:xfrm>
            <a:off x="1593852" y="0"/>
            <a:ext cx="7382931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pPr defTabSz="914400"/>
            <a:r>
              <a:rPr lang="en-US" sz="3200" kern="0" dirty="0"/>
              <a:t>AWS VPC Bastion/Jump Host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B1120A-C824-4554-B52A-6D1002CD487D}"/>
              </a:ext>
            </a:extLst>
          </p:cNvPr>
          <p:cNvSpPr/>
          <p:nvPr/>
        </p:nvSpPr>
        <p:spPr bwMode="auto">
          <a:xfrm>
            <a:off x="1919536" y="2060848"/>
            <a:ext cx="2520280" cy="1152128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712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467624"/>
            <a:ext cx="2844800" cy="215900"/>
          </a:xfrm>
        </p:spPr>
        <p:txBody>
          <a:bodyPr/>
          <a:lstStyle/>
          <a:p>
            <a:fld id="{6EF9C9B4-E990-4D4C-8C9D-F464783B5150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AC15CB-B4FE-4681-AFD9-2B7BAF7A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5217" y="6453336"/>
            <a:ext cx="5761567" cy="261938"/>
          </a:xfrm>
        </p:spPr>
        <p:txBody>
          <a:bodyPr/>
          <a:lstStyle/>
          <a:p>
            <a:r>
              <a:rPr lang="en-US" dirty="0"/>
              <a:t>© Copyright 2019, Darwin IT-Professionals B.V.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" y="-831158"/>
            <a:ext cx="10972800" cy="715963"/>
          </a:xfrm>
        </p:spPr>
        <p:txBody>
          <a:bodyPr/>
          <a:lstStyle/>
          <a:p>
            <a:r>
              <a:rPr lang="en-US" dirty="0"/>
              <a:t>Production Network Topology</a:t>
            </a:r>
          </a:p>
        </p:txBody>
      </p:sp>
      <p:sp>
        <p:nvSpPr>
          <p:cNvPr id="39" name="Tijdelijke aanduiding voor inhoud 2">
            <a:extLst>
              <a:ext uri="{FF2B5EF4-FFF2-40B4-BE49-F238E27FC236}">
                <a16:creationId xmlns:a16="http://schemas.microsoft.com/office/drawing/2014/main" id="{28B4D980-2744-42F1-9B90-69838E13D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2064" y="1413916"/>
            <a:ext cx="5616624" cy="4751388"/>
          </a:xfrm>
        </p:spPr>
        <p:txBody>
          <a:bodyPr/>
          <a:lstStyle/>
          <a:p>
            <a:r>
              <a:rPr lang="en-US" dirty="0"/>
              <a:t>Start </a:t>
            </a:r>
            <a:r>
              <a:rPr lang="en-US" dirty="0" err="1"/>
              <a:t>Bastionhost</a:t>
            </a:r>
            <a:r>
              <a:rPr lang="en-US" dirty="0"/>
              <a:t> Instance</a:t>
            </a:r>
          </a:p>
          <a:p>
            <a:r>
              <a:rPr lang="en-US" dirty="0"/>
              <a:t>SSH connection</a:t>
            </a:r>
          </a:p>
          <a:p>
            <a:pPr lvl="1"/>
            <a:r>
              <a:rPr lang="en-US" dirty="0"/>
              <a:t>Get Public IP address</a:t>
            </a:r>
          </a:p>
          <a:p>
            <a:pPr lvl="1"/>
            <a:r>
              <a:rPr lang="en-US" dirty="0"/>
              <a:t>Get OS user (ec2-user)</a:t>
            </a:r>
          </a:p>
          <a:p>
            <a:pPr lvl="1"/>
            <a:r>
              <a:rPr lang="en-US" dirty="0"/>
              <a:t>The private key </a:t>
            </a:r>
          </a:p>
          <a:p>
            <a:pPr lvl="1"/>
            <a:r>
              <a:rPr lang="en-US" dirty="0"/>
              <a:t>Connect to the bastion host instance</a:t>
            </a:r>
          </a:p>
        </p:txBody>
      </p:sp>
      <p:sp>
        <p:nvSpPr>
          <p:cNvPr id="59" name="Titel 1">
            <a:extLst>
              <a:ext uri="{FF2B5EF4-FFF2-40B4-BE49-F238E27FC236}">
                <a16:creationId xmlns:a16="http://schemas.microsoft.com/office/drawing/2014/main" id="{F91DBF24-DC97-454E-ADBC-C8DB7D8AB988}"/>
              </a:ext>
            </a:extLst>
          </p:cNvPr>
          <p:cNvSpPr txBox="1">
            <a:spLocks/>
          </p:cNvSpPr>
          <p:nvPr/>
        </p:nvSpPr>
        <p:spPr bwMode="auto">
          <a:xfrm>
            <a:off x="1535327" y="0"/>
            <a:ext cx="10681353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pPr defTabSz="914400"/>
            <a:r>
              <a:rPr lang="en-US" sz="3200" kern="0" dirty="0"/>
              <a:t>Access </a:t>
            </a:r>
            <a:r>
              <a:rPr lang="en-US" sz="3200" kern="0" dirty="0" err="1"/>
              <a:t>bastionhost</a:t>
            </a:r>
            <a:r>
              <a:rPr lang="en-US" sz="3200" kern="0" dirty="0"/>
              <a:t> via SSH (or RDS)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55EAA1-6C63-4E88-B6A1-C9303218D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1351249"/>
            <a:ext cx="5616624" cy="371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227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467624"/>
            <a:ext cx="2844800" cy="215900"/>
          </a:xfrm>
        </p:spPr>
        <p:txBody>
          <a:bodyPr/>
          <a:lstStyle/>
          <a:p>
            <a:fld id="{6EF9C9B4-E990-4D4C-8C9D-F464783B5150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AC15CB-B4FE-4681-AFD9-2B7BAF7A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5217" y="6453336"/>
            <a:ext cx="5761567" cy="261938"/>
          </a:xfrm>
        </p:spPr>
        <p:txBody>
          <a:bodyPr/>
          <a:lstStyle/>
          <a:p>
            <a:r>
              <a:rPr lang="en-US" dirty="0"/>
              <a:t>© Copyright 2019, Darwin IT-Professionals B.V.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" y="-831158"/>
            <a:ext cx="10972800" cy="715963"/>
          </a:xfrm>
        </p:spPr>
        <p:txBody>
          <a:bodyPr/>
          <a:lstStyle/>
          <a:p>
            <a:r>
              <a:rPr lang="en-US" dirty="0"/>
              <a:t>Production Network Topology</a:t>
            </a:r>
          </a:p>
        </p:txBody>
      </p:sp>
      <p:sp>
        <p:nvSpPr>
          <p:cNvPr id="39" name="Tijdelijke aanduiding voor inhoud 2">
            <a:extLst>
              <a:ext uri="{FF2B5EF4-FFF2-40B4-BE49-F238E27FC236}">
                <a16:creationId xmlns:a16="http://schemas.microsoft.com/office/drawing/2014/main" id="{28B4D980-2744-42F1-9B90-69838E13D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136" y="1280400"/>
            <a:ext cx="5400600" cy="4751388"/>
          </a:xfrm>
        </p:spPr>
        <p:txBody>
          <a:bodyPr/>
          <a:lstStyle/>
          <a:p>
            <a:r>
              <a:rPr lang="en-US" dirty="0"/>
              <a:t>Should be created within a</a:t>
            </a:r>
            <a:br>
              <a:rPr lang="en-US" dirty="0"/>
            </a:br>
            <a:r>
              <a:rPr lang="en-US" dirty="0"/>
              <a:t>Private Subnet</a:t>
            </a:r>
          </a:p>
          <a:p>
            <a:r>
              <a:rPr lang="en-US" dirty="0"/>
              <a:t>Private IP addressing determined </a:t>
            </a:r>
            <a:br>
              <a:rPr lang="en-US" dirty="0"/>
            </a:br>
            <a:r>
              <a:rPr lang="en-US" dirty="0"/>
              <a:t>via subnet (CIDR)</a:t>
            </a:r>
          </a:p>
          <a:p>
            <a:r>
              <a:rPr lang="en-US" dirty="0"/>
              <a:t>Maintenance access (SSH)</a:t>
            </a:r>
            <a:br>
              <a:rPr lang="en-US" dirty="0"/>
            </a:br>
            <a:r>
              <a:rPr lang="en-US" dirty="0"/>
              <a:t>through Bastion Host</a:t>
            </a:r>
          </a:p>
          <a:p>
            <a:r>
              <a:rPr lang="en-US" sz="2000" dirty="0"/>
              <a:t>Inbound </a:t>
            </a:r>
            <a:r>
              <a:rPr lang="en-US" dirty="0"/>
              <a:t>internet access </a:t>
            </a:r>
            <a:br>
              <a:rPr lang="en-US" dirty="0"/>
            </a:br>
            <a:r>
              <a:rPr lang="en-US" dirty="0"/>
              <a:t>prohibited </a:t>
            </a:r>
            <a:br>
              <a:rPr lang="en-US" dirty="0"/>
            </a:br>
            <a:r>
              <a:rPr lang="en-US" dirty="0"/>
              <a:t>(eventually via LB on port 80)</a:t>
            </a:r>
          </a:p>
          <a:p>
            <a:r>
              <a:rPr lang="en-US" sz="2000" dirty="0"/>
              <a:t>Outbound </a:t>
            </a:r>
            <a:r>
              <a:rPr lang="en-US" dirty="0"/>
              <a:t>internet access through NAT (e.g. OS updates)</a:t>
            </a:r>
          </a:p>
          <a:p>
            <a:r>
              <a:rPr lang="en-US" dirty="0"/>
              <a:t>Above access rights are setup via security groups</a:t>
            </a:r>
          </a:p>
          <a:p>
            <a:r>
              <a:rPr lang="en-US" dirty="0"/>
              <a:t>Multiple Application Servers </a:t>
            </a:r>
            <a:br>
              <a:rPr lang="en-US" dirty="0"/>
            </a:br>
            <a:r>
              <a:rPr lang="en-US" dirty="0"/>
              <a:t>for HA purposes in multiple zones</a:t>
            </a:r>
          </a:p>
        </p:txBody>
      </p:sp>
      <p:sp>
        <p:nvSpPr>
          <p:cNvPr id="59" name="Titel 1">
            <a:extLst>
              <a:ext uri="{FF2B5EF4-FFF2-40B4-BE49-F238E27FC236}">
                <a16:creationId xmlns:a16="http://schemas.microsoft.com/office/drawing/2014/main" id="{F91DBF24-DC97-454E-ADBC-C8DB7D8AB988}"/>
              </a:ext>
            </a:extLst>
          </p:cNvPr>
          <p:cNvSpPr txBox="1">
            <a:spLocks/>
          </p:cNvSpPr>
          <p:nvPr/>
        </p:nvSpPr>
        <p:spPr bwMode="auto">
          <a:xfrm>
            <a:off x="1593852" y="0"/>
            <a:ext cx="7382931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pPr defTabSz="914400"/>
            <a:r>
              <a:rPr lang="en-US" sz="3200" kern="0" dirty="0"/>
              <a:t>AWS VPC Application Servers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701E60-371D-4446-8806-8AD5E50B9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852" y="908720"/>
            <a:ext cx="5662151" cy="49381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5102727-9158-434A-8B8C-C5BA8D4C3872}"/>
              </a:ext>
            </a:extLst>
          </p:cNvPr>
          <p:cNvSpPr/>
          <p:nvPr/>
        </p:nvSpPr>
        <p:spPr bwMode="auto">
          <a:xfrm>
            <a:off x="2711624" y="2708920"/>
            <a:ext cx="3600400" cy="129614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08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0" y="0"/>
            <a:ext cx="10409765" cy="1041400"/>
          </a:xfrm>
        </p:spPr>
        <p:txBody>
          <a:bodyPr/>
          <a:lstStyle/>
          <a:p>
            <a:r>
              <a:rPr lang="en-US" dirty="0"/>
              <a:t>Practice 6a EC2: </a:t>
            </a:r>
            <a:r>
              <a:rPr lang="en-US" dirty="0" err="1"/>
              <a:t>BastionHost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9E2E03D-E4BB-49D4-8ED4-976EE2B2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D601D-ABCE-4DE1-9367-792D1150FA2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401859" y="908720"/>
            <a:ext cx="5388281" cy="471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55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AWS S3 </a:t>
            </a:r>
            <a:r>
              <a:rPr lang="en-US" dirty="0" err="1"/>
              <a:t>CloudBerry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F873C77-7658-405D-9A4C-6404891FC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Copyright 2018, Darwin IT-Professionals B.V.</a:t>
            </a:r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0693496-AFD3-4C55-B766-C6B3EBF79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067" y="764704"/>
            <a:ext cx="10409766" cy="2824733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3306A3F4-6F62-40D1-8AA3-28DFBBA89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2046725"/>
            <a:ext cx="3345470" cy="404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27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0" y="0"/>
            <a:ext cx="10409765" cy="1041400"/>
          </a:xfrm>
        </p:spPr>
        <p:txBody>
          <a:bodyPr/>
          <a:lstStyle/>
          <a:p>
            <a:r>
              <a:rPr lang="en-US" dirty="0"/>
              <a:t>Practice 6a EC2: </a:t>
            </a:r>
            <a:r>
              <a:rPr lang="en-US" dirty="0" err="1"/>
              <a:t>BastionHost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9E2E03D-E4BB-49D4-8ED4-976EE2B2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D601D-ABCE-4DE1-9367-792D1150FA2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401859" y="908720"/>
            <a:ext cx="5388281" cy="471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681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0" y="0"/>
            <a:ext cx="10409765" cy="1041400"/>
          </a:xfrm>
        </p:spPr>
        <p:txBody>
          <a:bodyPr/>
          <a:lstStyle/>
          <a:p>
            <a:r>
              <a:rPr lang="en-US" dirty="0"/>
              <a:t>Practice 6b EC2: Application Server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9E2E03D-E4BB-49D4-8ED4-976EE2B2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701E60-371D-4446-8806-8AD5E50B9A0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65170" y="960120"/>
            <a:ext cx="566166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306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3920" y="1"/>
            <a:ext cx="10972800" cy="715963"/>
          </a:xfrm>
        </p:spPr>
        <p:txBody>
          <a:bodyPr/>
          <a:lstStyle/>
          <a:p>
            <a:r>
              <a:rPr lang="en-US" dirty="0"/>
              <a:t>RDS Consumption Models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952" y="1124744"/>
            <a:ext cx="10972800" cy="4347713"/>
          </a:xfrm>
        </p:spPr>
        <p:txBody>
          <a:bodyPr/>
          <a:lstStyle/>
          <a:p>
            <a:r>
              <a:rPr lang="en-US" sz="2000" dirty="0"/>
              <a:t>On EC2 instance</a:t>
            </a:r>
          </a:p>
          <a:p>
            <a:pPr lvl="1"/>
            <a:r>
              <a:rPr lang="en-US" sz="1467" dirty="0"/>
              <a:t>Create VM; upload, install &amp; config and manage DB: DIY</a:t>
            </a:r>
          </a:p>
          <a:p>
            <a:pPr lvl="1"/>
            <a:r>
              <a:rPr lang="en-US" sz="1467" dirty="0"/>
              <a:t>Pricing: BYOL</a:t>
            </a:r>
          </a:p>
          <a:p>
            <a:r>
              <a:rPr lang="en-US" sz="2000" dirty="0"/>
              <a:t>Amazon Machine Image (AMI)</a:t>
            </a:r>
          </a:p>
          <a:p>
            <a:pPr lvl="1"/>
            <a:r>
              <a:rPr lang="en-US" sz="1467" dirty="0"/>
              <a:t>Build RDS AMI yourself or re-use community AMI</a:t>
            </a:r>
          </a:p>
          <a:p>
            <a:pPr lvl="1"/>
            <a:r>
              <a:rPr lang="en-US" sz="1467" dirty="0"/>
              <a:t>Pricing: BYOL</a:t>
            </a:r>
          </a:p>
          <a:p>
            <a:r>
              <a:rPr lang="en-US" sz="2000" b="1" dirty="0"/>
              <a:t>RDS Managed</a:t>
            </a:r>
          </a:p>
          <a:p>
            <a:pPr lvl="1"/>
            <a:r>
              <a:rPr lang="en-US" sz="1467" b="1" dirty="0"/>
              <a:t>DB Build and fully managed by AWS</a:t>
            </a:r>
          </a:p>
          <a:p>
            <a:pPr lvl="1"/>
            <a:r>
              <a:rPr lang="en-US" sz="1467" b="1" dirty="0"/>
              <a:t>Pricing: BYOL or licensed</a:t>
            </a:r>
          </a:p>
          <a:p>
            <a:r>
              <a:rPr lang="en-US" sz="2000" dirty="0"/>
              <a:t>Docker</a:t>
            </a:r>
          </a:p>
          <a:p>
            <a:pPr lvl="1"/>
            <a:r>
              <a:rPr lang="en-US" sz="1400" dirty="0"/>
              <a:t>Leverage an existing docker image or build RDS via docker build scripts</a:t>
            </a:r>
          </a:p>
          <a:p>
            <a:pPr lvl="1"/>
            <a:r>
              <a:rPr lang="en-US" sz="1400" dirty="0"/>
              <a:t>Manage Docker instance: DIY</a:t>
            </a:r>
          </a:p>
          <a:p>
            <a:pPr lvl="1"/>
            <a:r>
              <a:rPr lang="en-US" sz="1400" dirty="0"/>
              <a:t>Pricing: BYOL</a:t>
            </a:r>
          </a:p>
          <a:p>
            <a:r>
              <a:rPr lang="en-US" sz="1933" dirty="0"/>
              <a:t>Market Place</a:t>
            </a:r>
          </a:p>
          <a:p>
            <a:pPr lvl="1"/>
            <a:r>
              <a:rPr lang="en-US" sz="1400" dirty="0"/>
              <a:t>Build and managed by 3</a:t>
            </a:r>
            <a:r>
              <a:rPr lang="en-US" sz="1400" baseline="30000" dirty="0"/>
              <a:t>rd</a:t>
            </a:r>
            <a:r>
              <a:rPr lang="en-US" sz="1400" dirty="0"/>
              <a:t> party</a:t>
            </a:r>
          </a:p>
          <a:p>
            <a:pPr lvl="1"/>
            <a:r>
              <a:rPr lang="en-US" sz="1400" dirty="0"/>
              <a:t>Pricing: Licensed</a:t>
            </a:r>
          </a:p>
          <a:p>
            <a:pPr lvl="1"/>
            <a:endParaRPr lang="en-US" sz="140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9C9B4-E990-4D4C-8C9D-F464783B5150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3969477-4CE2-4C95-838C-255B2E392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2018, Darwin IT-Professionals B.V.</a:t>
            </a:r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05F09E16-CDBF-44A3-B7A6-AE05ECB56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527" y="4868387"/>
            <a:ext cx="5559146" cy="109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051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852" y="-60672"/>
            <a:ext cx="10409765" cy="1041400"/>
          </a:xfrm>
        </p:spPr>
        <p:txBody>
          <a:bodyPr/>
          <a:lstStyle/>
          <a:p>
            <a:r>
              <a:rPr lang="en-US" dirty="0"/>
              <a:t>RDS Services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4124130-1398-4737-A287-7B1C6E7F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8FB73593-4F95-45B2-AB3E-A0BB9BB5A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3269" y="980728"/>
            <a:ext cx="8316465" cy="4751388"/>
          </a:xfrm>
        </p:spPr>
        <p:txBody>
          <a:bodyPr/>
          <a:lstStyle/>
          <a:p>
            <a:pPr marL="285750" indent="-285750"/>
            <a:r>
              <a:rPr lang="en-US" sz="2400" dirty="0"/>
              <a:t>Amazon RDS Capabilities (as in </a:t>
            </a:r>
            <a:r>
              <a:rPr lang="en-US" sz="2400" dirty="0" err="1"/>
              <a:t>Paas</a:t>
            </a:r>
            <a:r>
              <a:rPr lang="en-US" sz="2400" dirty="0"/>
              <a:t>)</a:t>
            </a:r>
          </a:p>
          <a:p>
            <a:pPr marL="895350" lvl="1" indent="-285750"/>
            <a:r>
              <a:rPr lang="en-US" sz="2400" dirty="0"/>
              <a:t>Easy/fast to setup</a:t>
            </a:r>
          </a:p>
          <a:p>
            <a:pPr marL="895350" lvl="1" indent="-285750"/>
            <a:r>
              <a:rPr lang="en-US" sz="2400" dirty="0"/>
              <a:t>Patching, Backup and Recovery</a:t>
            </a:r>
          </a:p>
          <a:p>
            <a:pPr marL="895350" lvl="1" indent="-285750"/>
            <a:r>
              <a:rPr lang="en-US" sz="2400" dirty="0"/>
              <a:t>API’s for scaling storage and compute resources</a:t>
            </a:r>
          </a:p>
          <a:p>
            <a:pPr marL="895350" lvl="1" indent="-285750"/>
            <a:r>
              <a:rPr lang="en-US" sz="2400" dirty="0"/>
              <a:t>Amazon Aurora, MySQL, Oracle, PostgreSQL, Microsoft SQL, and Maria DB server databases</a:t>
            </a:r>
          </a:p>
          <a:p>
            <a:pPr marL="895350" lvl="1" indent="-285750"/>
            <a:r>
              <a:rPr lang="en-US" sz="2400" dirty="0"/>
              <a:t>Pay per use model, with no upfront cost</a:t>
            </a:r>
          </a:p>
          <a:p>
            <a:pPr marL="895350" lvl="1" indent="-285750"/>
            <a:r>
              <a:rPr lang="en-US" sz="2400" dirty="0"/>
              <a:t>DB replicas across AZ’s</a:t>
            </a:r>
          </a:p>
          <a:p>
            <a:pPr marL="895350" lvl="1" indent="-285750"/>
            <a:r>
              <a:rPr lang="en-US" sz="2400" dirty="0"/>
              <a:t>OOTB Monitoring </a:t>
            </a:r>
          </a:p>
        </p:txBody>
      </p:sp>
    </p:spTree>
    <p:extLst>
      <p:ext uri="{BB962C8B-B14F-4D97-AF65-F5344CB8AC3E}">
        <p14:creationId xmlns:p14="http://schemas.microsoft.com/office/powerpoint/2010/main" val="6297722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852" y="-60672"/>
            <a:ext cx="10409765" cy="1041400"/>
          </a:xfrm>
        </p:spPr>
        <p:txBody>
          <a:bodyPr/>
          <a:lstStyle/>
          <a:p>
            <a:r>
              <a:rPr lang="en-US" dirty="0"/>
              <a:t>RDS Characteristics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4124130-1398-4737-A287-7B1C6E7F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8FB73593-4F95-45B2-AB3E-A0BB9BB5A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3269" y="980728"/>
            <a:ext cx="8394879" cy="5040560"/>
          </a:xfrm>
        </p:spPr>
        <p:txBody>
          <a:bodyPr/>
          <a:lstStyle/>
          <a:p>
            <a:pPr marL="285750" indent="-285750"/>
            <a:r>
              <a:rPr lang="en-US" sz="1800" dirty="0"/>
              <a:t>RDS Access</a:t>
            </a:r>
          </a:p>
          <a:p>
            <a:pPr marL="895350" lvl="1" indent="-285750"/>
            <a:r>
              <a:rPr lang="en-US" strike="sngStrike" dirty="0"/>
              <a:t>= an EC2 instance</a:t>
            </a:r>
          </a:p>
          <a:p>
            <a:pPr marL="895350" lvl="1" indent="-285750"/>
            <a:r>
              <a:rPr lang="en-US" dirty="0"/>
              <a:t>Access via database endpoints</a:t>
            </a:r>
          </a:p>
          <a:p>
            <a:pPr marL="285750" indent="-285750"/>
            <a:r>
              <a:rPr lang="en-US" sz="1800" dirty="0"/>
              <a:t>License models</a:t>
            </a:r>
          </a:p>
          <a:p>
            <a:pPr marL="895350" lvl="1" indent="-285750"/>
            <a:r>
              <a:rPr lang="en-US" dirty="0"/>
              <a:t>License included</a:t>
            </a:r>
          </a:p>
          <a:p>
            <a:pPr marL="895350" lvl="1" indent="-285750"/>
            <a:r>
              <a:rPr lang="en-US" dirty="0"/>
              <a:t>BYOL</a:t>
            </a:r>
          </a:p>
          <a:p>
            <a:pPr marL="285750" indent="-285750"/>
            <a:r>
              <a:rPr lang="en-US" sz="1800" dirty="0"/>
              <a:t>HA/DR</a:t>
            </a:r>
          </a:p>
          <a:p>
            <a:pPr marL="895350" lvl="1" indent="-285750"/>
            <a:r>
              <a:rPr lang="en-US" dirty="0"/>
              <a:t>Through Multi-AZ deployment</a:t>
            </a:r>
          </a:p>
          <a:p>
            <a:pPr marL="895350" lvl="1" indent="-285750"/>
            <a:r>
              <a:rPr lang="en-US" dirty="0"/>
              <a:t>Standby Replica (R/W versus Read)</a:t>
            </a:r>
          </a:p>
          <a:p>
            <a:pPr marL="285750" indent="-285750"/>
            <a:r>
              <a:rPr lang="en-US" sz="1800" dirty="0"/>
              <a:t>Backup</a:t>
            </a:r>
          </a:p>
          <a:p>
            <a:pPr marL="895350" lvl="1" indent="-285750"/>
            <a:r>
              <a:rPr lang="en-US" dirty="0"/>
              <a:t>Snapshots (user triggered and/or automated)</a:t>
            </a:r>
          </a:p>
          <a:p>
            <a:pPr marL="895350" lvl="1" indent="-285750"/>
            <a:r>
              <a:rPr lang="en-US" dirty="0"/>
              <a:t>Regular scheduled backups</a:t>
            </a:r>
          </a:p>
          <a:p>
            <a:pPr marL="285750" indent="-285750"/>
            <a:r>
              <a:rPr lang="en-US" sz="1800" dirty="0"/>
              <a:t>Pricing models</a:t>
            </a:r>
          </a:p>
          <a:p>
            <a:pPr marL="895350" lvl="1" indent="-285750"/>
            <a:r>
              <a:rPr lang="en-US" dirty="0"/>
              <a:t>Reserved Instances (Monthly Fee) -&gt; Prod</a:t>
            </a:r>
          </a:p>
          <a:p>
            <a:pPr marL="895350" lvl="1" indent="-285750"/>
            <a:r>
              <a:rPr lang="en-US" dirty="0"/>
              <a:t>On-Demand instances (PAYG) -&gt; Dev/</a:t>
            </a:r>
            <a:r>
              <a:rPr lang="en-US" dirty="0" err="1"/>
              <a:t>Tst</a:t>
            </a:r>
            <a:endParaRPr lang="en-US" dirty="0"/>
          </a:p>
          <a:p>
            <a:pPr marL="285750" indent="-285750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038581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467624"/>
            <a:ext cx="2844800" cy="215900"/>
          </a:xfrm>
        </p:spPr>
        <p:txBody>
          <a:bodyPr/>
          <a:lstStyle/>
          <a:p>
            <a:fld id="{6EF9C9B4-E990-4D4C-8C9D-F464783B5150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AC15CB-B4FE-4681-AFD9-2B7BAF7A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5217" y="6453336"/>
            <a:ext cx="5761567" cy="261938"/>
          </a:xfrm>
        </p:spPr>
        <p:txBody>
          <a:bodyPr/>
          <a:lstStyle/>
          <a:p>
            <a:r>
              <a:rPr lang="en-US" dirty="0"/>
              <a:t>© Copyright 2019, Darwin IT-Professionals B.V.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" y="-831158"/>
            <a:ext cx="10972800" cy="715963"/>
          </a:xfrm>
        </p:spPr>
        <p:txBody>
          <a:bodyPr/>
          <a:lstStyle/>
          <a:p>
            <a:r>
              <a:rPr lang="en-US" dirty="0"/>
              <a:t>Production Network Topology</a:t>
            </a:r>
          </a:p>
        </p:txBody>
      </p:sp>
      <p:sp>
        <p:nvSpPr>
          <p:cNvPr id="39" name="Tijdelijke aanduiding voor inhoud 2">
            <a:extLst>
              <a:ext uri="{FF2B5EF4-FFF2-40B4-BE49-F238E27FC236}">
                <a16:creationId xmlns:a16="http://schemas.microsoft.com/office/drawing/2014/main" id="{28B4D980-2744-42F1-9B90-69838E13D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112" y="1268760"/>
            <a:ext cx="5400600" cy="4751388"/>
          </a:xfrm>
        </p:spPr>
        <p:txBody>
          <a:bodyPr/>
          <a:lstStyle/>
          <a:p>
            <a:r>
              <a:rPr lang="en-US" sz="1800" dirty="0"/>
              <a:t>Should be created within (another)</a:t>
            </a:r>
            <a:br>
              <a:rPr lang="en-US" sz="1800" dirty="0"/>
            </a:br>
            <a:r>
              <a:rPr lang="en-US" sz="1800" dirty="0"/>
              <a:t>Private Subnet</a:t>
            </a:r>
          </a:p>
          <a:p>
            <a:r>
              <a:rPr lang="en-US" sz="1800" dirty="0"/>
              <a:t>Private IP addressing determined </a:t>
            </a:r>
            <a:br>
              <a:rPr lang="en-US" sz="1800" dirty="0"/>
            </a:br>
            <a:r>
              <a:rPr lang="en-US" sz="1800" dirty="0"/>
              <a:t>via subnet (CIDR)</a:t>
            </a:r>
          </a:p>
          <a:p>
            <a:r>
              <a:rPr lang="en-US" sz="1800" dirty="0"/>
              <a:t>Maintenance access (MySQL port)</a:t>
            </a:r>
            <a:br>
              <a:rPr lang="en-US" sz="1800" dirty="0"/>
            </a:br>
            <a:r>
              <a:rPr lang="en-US" sz="1800" dirty="0"/>
              <a:t>through Bastion Host</a:t>
            </a:r>
          </a:p>
          <a:p>
            <a:r>
              <a:rPr lang="en-US" sz="1800" dirty="0"/>
              <a:t>Inbound internet access </a:t>
            </a:r>
            <a:br>
              <a:rPr lang="en-US" sz="1800" dirty="0"/>
            </a:br>
            <a:r>
              <a:rPr lang="en-US" sz="1800" dirty="0"/>
              <a:t>prohibited </a:t>
            </a:r>
            <a:br>
              <a:rPr lang="en-US" sz="1800" dirty="0"/>
            </a:br>
            <a:r>
              <a:rPr lang="en-US" sz="1800" dirty="0"/>
              <a:t>(Only accessible via AS on runtime)</a:t>
            </a:r>
          </a:p>
          <a:p>
            <a:r>
              <a:rPr lang="en-US" sz="1800" dirty="0"/>
              <a:t>Outbound internet access </a:t>
            </a:r>
            <a:br>
              <a:rPr lang="en-US" sz="1800" dirty="0"/>
            </a:br>
            <a:r>
              <a:rPr lang="en-US" sz="1800" dirty="0"/>
              <a:t>not necessary: Managed RDS</a:t>
            </a:r>
          </a:p>
          <a:p>
            <a:r>
              <a:rPr lang="en-US" sz="1800" dirty="0"/>
              <a:t>Above access rights are setup </a:t>
            </a:r>
            <a:br>
              <a:rPr lang="en-US" sz="1800" dirty="0"/>
            </a:br>
            <a:r>
              <a:rPr lang="en-US" sz="1800" dirty="0"/>
              <a:t>via security groups</a:t>
            </a:r>
          </a:p>
          <a:p>
            <a:r>
              <a:rPr lang="en-US" sz="1800" dirty="0"/>
              <a:t>Multiple RDSs’ for HA purposes </a:t>
            </a:r>
            <a:br>
              <a:rPr lang="en-US" sz="1800" dirty="0"/>
            </a:br>
            <a:r>
              <a:rPr lang="en-US" sz="1800" dirty="0"/>
              <a:t>(failover) in multiple zones grouped in </a:t>
            </a:r>
            <a:br>
              <a:rPr lang="en-US" sz="1800" dirty="0"/>
            </a:br>
            <a:r>
              <a:rPr lang="en-US" sz="1800" dirty="0"/>
              <a:t>a subnet network group</a:t>
            </a:r>
          </a:p>
        </p:txBody>
      </p:sp>
      <p:sp>
        <p:nvSpPr>
          <p:cNvPr id="59" name="Titel 1">
            <a:extLst>
              <a:ext uri="{FF2B5EF4-FFF2-40B4-BE49-F238E27FC236}">
                <a16:creationId xmlns:a16="http://schemas.microsoft.com/office/drawing/2014/main" id="{F91DBF24-DC97-454E-ADBC-C8DB7D8AB988}"/>
              </a:ext>
            </a:extLst>
          </p:cNvPr>
          <p:cNvSpPr txBox="1">
            <a:spLocks/>
          </p:cNvSpPr>
          <p:nvPr/>
        </p:nvSpPr>
        <p:spPr bwMode="auto">
          <a:xfrm>
            <a:off x="1593852" y="0"/>
            <a:ext cx="7382931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pPr defTabSz="914400"/>
            <a:r>
              <a:rPr lang="en-US" sz="3200" kern="0" dirty="0"/>
              <a:t>AWS VPC RDS (Databases)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2EB948-CABF-48D0-9592-4AAF55585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933" y="858852"/>
            <a:ext cx="6045300" cy="523444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5102727-9158-434A-8B8C-C5BA8D4C3872}"/>
              </a:ext>
            </a:extLst>
          </p:cNvPr>
          <p:cNvSpPr/>
          <p:nvPr/>
        </p:nvSpPr>
        <p:spPr bwMode="auto">
          <a:xfrm>
            <a:off x="2495600" y="4115792"/>
            <a:ext cx="3456384" cy="96939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9656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80" y="0"/>
            <a:ext cx="10409765" cy="1041400"/>
          </a:xfrm>
        </p:spPr>
        <p:txBody>
          <a:bodyPr/>
          <a:lstStyle/>
          <a:p>
            <a:r>
              <a:rPr lang="en-US" dirty="0"/>
              <a:t>Practice 7 RDS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9E2E03D-E4BB-49D4-8ED4-976EE2B2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2EB948-CABF-48D0-9592-4AAF5558504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15640" y="935037"/>
            <a:ext cx="5760720" cy="498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9677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Cost Estimators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852" y="1124744"/>
            <a:ext cx="10409765" cy="4751388"/>
          </a:xfrm>
        </p:spPr>
        <p:txBody>
          <a:bodyPr/>
          <a:lstStyle/>
          <a:p>
            <a:r>
              <a:rPr lang="en-US" dirty="0"/>
              <a:t>Multiple Cost Estimators</a:t>
            </a:r>
          </a:p>
          <a:p>
            <a:pPr lvl="1"/>
            <a:r>
              <a:rPr lang="en-US" dirty="0">
                <a:hlinkClick r:id="rId3"/>
              </a:rPr>
              <a:t>https://calculator.s3.amazonaws.com/index.html</a:t>
            </a:r>
            <a:r>
              <a:rPr lang="en-US" dirty="0"/>
              <a:t> (V1)</a:t>
            </a:r>
          </a:p>
          <a:p>
            <a:pPr lvl="1"/>
            <a:r>
              <a:rPr lang="en-US" dirty="0">
                <a:hlinkClick r:id="rId4"/>
              </a:rPr>
              <a:t>https://calculator.aws/#/</a:t>
            </a:r>
            <a:r>
              <a:rPr lang="en-US" dirty="0"/>
              <a:t> (v2, wizard like)</a:t>
            </a:r>
          </a:p>
          <a:p>
            <a:r>
              <a:rPr lang="en-US" dirty="0"/>
              <a:t>Difference in output of the V1 and V2 (wizard like) cost estimators</a:t>
            </a:r>
          </a:p>
          <a:p>
            <a:r>
              <a:rPr lang="en-US" dirty="0"/>
              <a:t>Only in USD</a:t>
            </a:r>
          </a:p>
          <a:p>
            <a:r>
              <a:rPr lang="en-US" dirty="0"/>
              <a:t>Prices varies per region! Choose region</a:t>
            </a:r>
          </a:p>
          <a:p>
            <a:r>
              <a:rPr lang="en-US" dirty="0"/>
              <a:t>Align your actual (to be) used instance types with the instance types in the cost estimator</a:t>
            </a:r>
          </a:p>
          <a:p>
            <a:r>
              <a:rPr lang="en-US" dirty="0"/>
              <a:t>No warning if you forget specific costs</a:t>
            </a:r>
          </a:p>
          <a:p>
            <a:r>
              <a:rPr lang="en-US" dirty="0"/>
              <a:t>Improve your estimates by aligning your monthly billing with the Cost Estimator</a:t>
            </a:r>
          </a:p>
          <a:p>
            <a:r>
              <a:rPr lang="en-US" dirty="0"/>
              <a:t>Not all services (sub-components) may be available within Cost Estimator</a:t>
            </a:r>
          </a:p>
          <a:p>
            <a:r>
              <a:rPr lang="en-US" dirty="0"/>
              <a:t>No linkage with existing services</a:t>
            </a:r>
          </a:p>
          <a:p>
            <a:pPr lvl="1"/>
            <a:r>
              <a:rPr lang="en-US" dirty="0"/>
              <a:t>you are not logged-in during your cost estimation</a:t>
            </a:r>
          </a:p>
          <a:p>
            <a:r>
              <a:rPr lang="en-US" dirty="0"/>
              <a:t>Save your estimates and/or export to csv file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9C9B4-E990-4D4C-8C9D-F464783B5150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AC15CB-B4FE-4681-AFD9-2B7BAF7A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Copyright 2018, Darwin IT-Professionals B.V.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111324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235" y="30760"/>
            <a:ext cx="10409765" cy="1041400"/>
          </a:xfrm>
        </p:spPr>
        <p:txBody>
          <a:bodyPr/>
          <a:lstStyle/>
          <a:p>
            <a:r>
              <a:rPr lang="en-US" dirty="0"/>
              <a:t>Practice 8 Cost Estimators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9E2E03D-E4BB-49D4-8ED4-976EE2B2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Copyright 2018, Darwin IT-Professionals B.V.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4C0E65-418A-460F-A9A2-5E9653086E5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919536" y="851328"/>
            <a:ext cx="4153305" cy="5040559"/>
          </a:xfrm>
          <a:prstGeom prst="rect">
            <a:avLst/>
          </a:prstGeom>
        </p:spPr>
      </p:pic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111DEED5-29A5-45DA-8193-FA923DC66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2024" y="851328"/>
            <a:ext cx="5640793" cy="4751388"/>
          </a:xfrm>
        </p:spPr>
        <p:txBody>
          <a:bodyPr/>
          <a:lstStyle/>
          <a:p>
            <a:r>
              <a:rPr lang="en-US" dirty="0"/>
              <a:t>Choose your (Favorite) Cost Estimator</a:t>
            </a:r>
          </a:p>
          <a:p>
            <a:pPr lvl="1"/>
            <a:r>
              <a:rPr lang="en-US" dirty="0"/>
              <a:t>V1, Section 8.1</a:t>
            </a:r>
            <a:br>
              <a:rPr lang="en-US" dirty="0"/>
            </a:br>
            <a:r>
              <a:rPr lang="en-US" dirty="0">
                <a:hlinkClick r:id="rId4"/>
              </a:rPr>
              <a:t>https://calculator.s3.amazonaws.com/index.html</a:t>
            </a:r>
            <a:endParaRPr lang="en-US" dirty="0"/>
          </a:p>
          <a:p>
            <a:pPr lvl="1"/>
            <a:r>
              <a:rPr lang="en-US" dirty="0"/>
              <a:t>V2, Section 8.2</a:t>
            </a:r>
            <a:br>
              <a:rPr lang="en-US" dirty="0"/>
            </a:br>
            <a:r>
              <a:rPr lang="en-US" dirty="0">
                <a:hlinkClick r:id="rId5"/>
              </a:rPr>
              <a:t>https://calculator.aws/#/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8906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Evaluation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852" y="1028551"/>
            <a:ext cx="10409765" cy="4751388"/>
          </a:xfrm>
        </p:spPr>
        <p:txBody>
          <a:bodyPr/>
          <a:lstStyle/>
          <a:p>
            <a:r>
              <a:rPr lang="en-US" sz="2400" dirty="0"/>
              <a:t>Easiness/fastness of spinning AWS resources: Wow? </a:t>
            </a:r>
          </a:p>
          <a:p>
            <a:r>
              <a:rPr lang="en-US" sz="2400" dirty="0"/>
              <a:t>Dependency between AWS Services</a:t>
            </a:r>
          </a:p>
          <a:p>
            <a:r>
              <a:rPr lang="en-US" sz="2400" dirty="0"/>
              <a:t>Added-value using draw.io upfront?</a:t>
            </a:r>
          </a:p>
          <a:p>
            <a:r>
              <a:rPr lang="en-US" sz="2400" dirty="0"/>
              <a:t>AWS Console: pleasant user experience?</a:t>
            </a:r>
          </a:p>
          <a:p>
            <a:r>
              <a:rPr lang="en-US" sz="2400" dirty="0"/>
              <a:t>Predictability of costs using the cost estimators?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9C9B4-E990-4D4C-8C9D-F464783B5150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AC15CB-B4FE-4681-AFD9-2B7BAF7A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Copyright 2018, Darwin IT-Professionals B.V.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019691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9C9B4-E990-4D4C-8C9D-F464783B5150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487BE7D-81DB-422A-A324-EE91396A8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2018, Darwin IT-Professionals B.V.</a:t>
            </a:r>
            <a:endParaRPr lang="nl-NL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6175941-EDEF-493C-BA23-446E6AB280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b="7864"/>
          <a:stretch/>
        </p:blipFill>
        <p:spPr bwMode="auto">
          <a:xfrm>
            <a:off x="2448678" y="1745951"/>
            <a:ext cx="8903906" cy="470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866534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Tagging &amp; Resource groups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ABBC25-0025-41BB-A962-D98167A9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2064" y="1052736"/>
            <a:ext cx="8028432" cy="4896544"/>
          </a:xfrm>
        </p:spPr>
        <p:txBody>
          <a:bodyPr/>
          <a:lstStyle/>
          <a:p>
            <a:r>
              <a:rPr lang="en-US" sz="1800" dirty="0"/>
              <a:t>Resource Groups</a:t>
            </a:r>
          </a:p>
          <a:p>
            <a:pPr lvl="1"/>
            <a:r>
              <a:rPr lang="en-US" sz="1600" dirty="0"/>
              <a:t>A collection of AWS resources that are all in the same AWS </a:t>
            </a:r>
            <a:r>
              <a:rPr lang="en-US" sz="1600" i="1" dirty="0"/>
              <a:t>region</a:t>
            </a:r>
            <a:r>
              <a:rPr lang="en-US" sz="1600" dirty="0"/>
              <a:t>, that match criteria provided in a query, and that share one or more </a:t>
            </a:r>
            <a:r>
              <a:rPr lang="en-US" sz="1600" i="1" dirty="0"/>
              <a:t>tags</a:t>
            </a:r>
            <a:r>
              <a:rPr lang="en-US" sz="1600" dirty="0"/>
              <a:t> or portions of tags</a:t>
            </a:r>
          </a:p>
          <a:p>
            <a:r>
              <a:rPr lang="en-US" sz="1800" dirty="0"/>
              <a:t>Tags</a:t>
            </a:r>
          </a:p>
          <a:p>
            <a:pPr lvl="1"/>
            <a:r>
              <a:rPr lang="en-US" sz="1600" dirty="0"/>
              <a:t>Keys that help identify and sort your resources within your organization</a:t>
            </a:r>
          </a:p>
          <a:p>
            <a:r>
              <a:rPr lang="en-US" sz="1800" dirty="0"/>
              <a:t>To visualize your resources (compute, storage) in the AWS console</a:t>
            </a:r>
          </a:p>
          <a:p>
            <a:r>
              <a:rPr lang="en-US" sz="1800" dirty="0"/>
              <a:t>Examples</a:t>
            </a:r>
          </a:p>
          <a:p>
            <a:pPr lvl="1"/>
            <a:r>
              <a:rPr lang="en-US" sz="1600" dirty="0"/>
              <a:t>a DTAP classification</a:t>
            </a:r>
          </a:p>
          <a:p>
            <a:pPr lvl="1"/>
            <a:r>
              <a:rPr lang="en-US" sz="1600" dirty="0"/>
              <a:t>Projects</a:t>
            </a:r>
          </a:p>
          <a:p>
            <a:pPr lvl="1"/>
            <a:r>
              <a:rPr lang="en-US" sz="1600" dirty="0"/>
              <a:t>Departments</a:t>
            </a:r>
          </a:p>
          <a:p>
            <a:pPr lvl="1"/>
            <a:r>
              <a:rPr lang="en-US" sz="1600" dirty="0"/>
              <a:t>Platforms (e.g. Windows, Linux)</a:t>
            </a:r>
          </a:p>
          <a:p>
            <a:endParaRPr lang="en-US" sz="18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6B347C3-9766-4E28-A770-BA9F4F7AB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224" y="3627384"/>
            <a:ext cx="3307161" cy="2335261"/>
          </a:xfrm>
          <a:prstGeom prst="rect">
            <a:avLst/>
          </a:prstGeom>
        </p:spPr>
      </p:pic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1BE2176-94A0-4E2D-95D8-D9742204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Copyright 2018, Darwin IT-Professionals B.V.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74118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03BAB-617A-4FE0-8422-A881B832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Resource Groups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2F2EE7-4823-4276-95FB-00C90F9F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F9C9B4-E990-4D4C-8C9D-F464783B5150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F873C77-7658-405D-9A4C-6404891FC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Copyright 2018, Darwin IT-Professionals B.V.</a:t>
            </a:r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355DF536-13AD-42DC-9393-BF999BF86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20" y="989802"/>
            <a:ext cx="10480826" cy="464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829181"/>
      </p:ext>
    </p:extLst>
  </p:cSld>
  <p:clrMapOvr>
    <a:masterClrMapping/>
  </p:clrMapOvr>
</p:sld>
</file>

<file path=ppt/theme/theme1.xml><?xml version="1.0" encoding="utf-8"?>
<a:theme xmlns:a="http://schemas.openxmlformats.org/drawingml/2006/main" name="1_5hart_darw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0000"/>
      </a:hlink>
      <a:folHlink>
        <a:srgbClr val="FF0000"/>
      </a:folHlink>
    </a:clrScheme>
    <a:fontScheme name="1_5hart_darwin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Tahoma" pitchFamily="34" charset="0"/>
          </a:defRPr>
        </a:defPPr>
      </a:lstStyle>
    </a:lnDef>
  </a:objectDefaults>
  <a:extraClrSchemeLst>
    <a:extraClrScheme>
      <a:clrScheme name="1_5hart_darwi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5hart_darwi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5hart_darwi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5hart_darwi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5hart_darwi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5hart_darwi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5hart_darwi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ADF 11 Deployment</Template>
  <TotalTime>34419</TotalTime>
  <Words>2871</Words>
  <Application>Microsoft Office PowerPoint</Application>
  <PresentationFormat>Widescreen</PresentationFormat>
  <Paragraphs>500</Paragraphs>
  <Slides>45</Slides>
  <Notes>34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Verdana</vt:lpstr>
      <vt:lpstr>Wingdings</vt:lpstr>
      <vt:lpstr>Times New Roman</vt:lpstr>
      <vt:lpstr>1_5hart_darwin</vt:lpstr>
      <vt:lpstr>AWS Fundamentals NN 13-01-2020</vt:lpstr>
      <vt:lpstr>Agenda</vt:lpstr>
      <vt:lpstr>Give a-ways for this 1-day AWS Primer</vt:lpstr>
      <vt:lpstr>Cloud Terminology and Context</vt:lpstr>
      <vt:lpstr>Public Cloud fundamentals</vt:lpstr>
      <vt:lpstr>AWS Characteristics</vt:lpstr>
      <vt:lpstr>AWS Marketshare (Iaas perspective) </vt:lpstr>
      <vt:lpstr>Regions &amp; Availability Zones (AZ)</vt:lpstr>
      <vt:lpstr>Regions &amp; Availability Zones (AZ): Frankfurt</vt:lpstr>
      <vt:lpstr>Demo: AWS Console: Services</vt:lpstr>
      <vt:lpstr>AWS Management Console</vt:lpstr>
      <vt:lpstr>Practice 2 Exploring AWS</vt:lpstr>
      <vt:lpstr>AWS S3 (storage)</vt:lpstr>
      <vt:lpstr>AWS S3 (storage) – cont’d</vt:lpstr>
      <vt:lpstr>Demo: AWS S3</vt:lpstr>
      <vt:lpstr>Practice 3 S3</vt:lpstr>
      <vt:lpstr>Regions &amp; Availability Zones (AZ)</vt:lpstr>
      <vt:lpstr>Production Network Topology</vt:lpstr>
      <vt:lpstr>Production Network Topology</vt:lpstr>
      <vt:lpstr>Production Network Topology</vt:lpstr>
      <vt:lpstr>Draw.io</vt:lpstr>
      <vt:lpstr>Practice 4 AWS Resources Diagram</vt:lpstr>
      <vt:lpstr>Practice 5 VPC</vt:lpstr>
      <vt:lpstr>EC2</vt:lpstr>
      <vt:lpstr>EC2 – cont’d</vt:lpstr>
      <vt:lpstr>AWS Compute Instances</vt:lpstr>
      <vt:lpstr>Demo: AWS EC2</vt:lpstr>
      <vt:lpstr>Production Network Topology</vt:lpstr>
      <vt:lpstr>Production Network Topology</vt:lpstr>
      <vt:lpstr>Production Network Topology</vt:lpstr>
      <vt:lpstr>Practice 6a EC2: BastionHost</vt:lpstr>
      <vt:lpstr>Demo: AWS S3 CloudBerry</vt:lpstr>
      <vt:lpstr>Practice 6a EC2: BastionHost</vt:lpstr>
      <vt:lpstr>Practice 6b EC2: Application Server</vt:lpstr>
      <vt:lpstr>RDS Consumption Models</vt:lpstr>
      <vt:lpstr>RDS Services</vt:lpstr>
      <vt:lpstr>RDS Characteristics</vt:lpstr>
      <vt:lpstr>Production Network Topology</vt:lpstr>
      <vt:lpstr>Practice 7 RDS</vt:lpstr>
      <vt:lpstr>AWS Cost Estimators</vt:lpstr>
      <vt:lpstr>Practice 8 Cost Estimators</vt:lpstr>
      <vt:lpstr>Summary and Evaluation</vt:lpstr>
      <vt:lpstr>Q&amp;A</vt:lpstr>
      <vt:lpstr>Tagging &amp; Resource groups</vt:lpstr>
      <vt:lpstr>Demo: Resource Groups</vt:lpstr>
    </vt:vector>
  </TitlesOfParts>
  <Manager>Mike Kruijsdijk</Manager>
  <Company>Darwin IT-Professionals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Fundamentals</dc:title>
  <dc:creator>Darwin-IT</dc:creator>
  <cp:lastModifiedBy>frank.brink</cp:lastModifiedBy>
  <cp:revision>3256</cp:revision>
  <cp:lastPrinted>2002-03-28T23:57:22Z</cp:lastPrinted>
  <dcterms:created xsi:type="dcterms:W3CDTF">2001-07-03T17:11:09Z</dcterms:created>
  <dcterms:modified xsi:type="dcterms:W3CDTF">2020-01-10T10:55:21Z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uild_Date">
    <vt:filetime>2001-07-03T07:00:00Z</vt:filetime>
  </property>
  <property fmtid="{D5CDD505-2E9C-101B-9397-08002B2CF9AE}" pid="3" name="Build_Time">
    <vt:lpwstr>10:11:09 AM</vt:lpwstr>
  </property>
  <property fmtid="{D5CDD505-2E9C-101B-9397-08002B2CF9AE}" pid="4" name="Build_version">
    <vt:lpwstr> 111</vt:lpwstr>
  </property>
  <property fmtid="{D5CDD505-2E9C-101B-9397-08002B2CF9AE}" pid="5" name="Version">
    <vt:lpwstr>1.00</vt:lpwstr>
  </property>
  <property fmtid="{D5CDD505-2E9C-101B-9397-08002B2CF9AE}" pid="6" name="home_page">
    <vt:lpwstr>http://ap337sun.us.oracle.com/powerpoint</vt:lpwstr>
  </property>
</Properties>
</file>